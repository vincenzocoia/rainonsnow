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software updates, rain-on-snow findings, statistical developments, and where we are on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supports matter: grafting a tail onto an empirical body joins something that stops dead to something that runs forever. Without a support, the algorithms cannot tell an impossible value from an unlikely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 = 2 the likeliest mix is a 2.1-year rainfall with a 0.3-year snowmelt; at T = 200, a 9.4-year rainfall with a 0.24-year snowmelt. Rainfall explains over 90% of the variation in runoff at peaks in this cell. The animation plays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was restructured so each analysis is a choice of drivers, a learning model, and a question. A first pass with snowmelt standing in for available water already runs; the forest used there cannot yet resolve events rarer than about 2 years, which is the same tail problem as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is the family's expectile function. The weight w(p) does the work; the useful range puts it low, p0 around 0.5 to 0.8, not 0.95.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choice dominates the competitor: POT-MLE at 0.85 / 0.90 / 0.95 gives MSE in the ratio 1.62 : 1.00 : 0.52 at T = 1000, a threefold spread from a choice the data cannot make. The composite estimator has no threshold; the weight plays that role,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(ii) is from Coia et al. (2020): the marginal EVI is always at least the largest conditional EVI, strictly so for many copulas. Closing that gap needs the conditionals to hold indefinitely into the tail of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conditional plus the copula determines the whole family. Combine several by the median survival, not the mean, which would propagate the most extreme tail index again. So far the noise in distributional learning has struggled to beat estimating the distribution of runoff directly; that is what needs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 graft comes first and stands on its own. Composite estimation builds on it. Copula transport addresses the distributional learning challenges on the previous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1 is October 2025, so month 12 is September 2026. The point: phase 2 alternates statistical development with data and process insight, and the work is where the plan says it should be. The 'possible early end' line from the January replan (after month 7) is no longer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33F"/>
        </a:solidFill>
      </p:bgPr>
    </p:bg>
    <p:spTree>
      <p:nvGrpSpPr>
        <p:cNvPr id="1" name=""/>
        <p:cNvGrpSpPr/>
        <p:nvPr/>
      </p:nvGrpSpPr>
      <p:grpSpPr>
        <a:xfrm>
          <a:off x="0" y="0"/>
          <a:ext cx="0" cy="0"/>
          <a:chOff x="0" y="0"/>
          <a:chExt cx="0" cy="0"/>
        </a:xfrm>
      </p:grpSpPr>
      <p:sp>
        <p:nvSpPr>
          <p:cNvPr id="2" name="Text 0"/>
          <p:cNvSpPr txBox="1"/>
          <p:nvPr/>
        </p:nvSpPr>
        <p:spPr>
          <a:xfrm>
            <a:off x="457200" y="1600200"/>
            <a:ext cx="8229600" cy="777240"/>
          </a:xfrm>
          <a:prstGeom prst="rect">
            <a:avLst/>
          </a:prstGeom>
          <a:noFill/>
          <a:ln/>
        </p:spPr>
        <p:txBody>
          <a:bodyPr wrap="square" lIns="0" tIns="0" rIns="0" bIns="0" rtlCol="0" anchor="t"/>
          <a:lstStyle/>
          <a:p>
            <a:pPr algn="l" indent="0" marL="0">
              <a:buNone/>
            </a:pPr>
            <a:r>
              <a:rPr lang="en-US" sz="4600" b="1" dirty="0">
                <a:solidFill>
                  <a:srgbClr val="FFFFFF"/>
                </a:solidFill>
                <a:latin typeface="Cambria" pitchFamily="34" charset="0"/>
                <a:ea typeface="Cambria" pitchFamily="34" charset="-122"/>
                <a:cs typeface="Cambria" pitchFamily="34" charset="-120"/>
              </a:rPr>
              <a:t>Rain-on-snow</a:t>
            </a:r>
            <a:endParaRPr lang="en-US" sz="4600" dirty="0"/>
          </a:p>
        </p:txBody>
      </p:sp>
      <p:sp>
        <p:nvSpPr>
          <p:cNvPr id="3" name="Text 1"/>
          <p:cNvSpPr txBox="1"/>
          <p:nvPr/>
        </p:nvSpPr>
        <p:spPr>
          <a:xfrm>
            <a:off x="457200" y="2395728"/>
            <a:ext cx="8229600" cy="685800"/>
          </a:xfrm>
          <a:prstGeom prst="rect">
            <a:avLst/>
          </a:prstGeom>
          <a:noFill/>
          <a:ln/>
        </p:spPr>
        <p:txBody>
          <a:bodyPr wrap="square" lIns="0" tIns="0" rIns="0" bIns="0" rtlCol="0" anchor="t"/>
          <a:lstStyle/>
          <a:p>
            <a:pPr algn="l" indent="0" marL="0">
              <a:buNone/>
            </a:pPr>
            <a:r>
              <a:rPr lang="en-US" sz="3800" dirty="0">
                <a:solidFill>
                  <a:srgbClr val="8FB3C4"/>
                </a:solidFill>
                <a:latin typeface="Cambria" pitchFamily="34" charset="0"/>
                <a:ea typeface="Cambria" pitchFamily="34" charset="-122"/>
                <a:cs typeface="Cambria" pitchFamily="34" charset="-120"/>
              </a:rPr>
              <a:t>Progress update</a:t>
            </a:r>
            <a:endParaRPr lang="en-US" sz="3800" dirty="0"/>
          </a:p>
        </p:txBody>
      </p:sp>
      <p:sp>
        <p:nvSpPr>
          <p:cNvPr id="4" name="Text 2"/>
          <p:cNvSpPr txBox="1"/>
          <p:nvPr/>
        </p:nvSpPr>
        <p:spPr>
          <a:xfrm>
            <a:off x="457200" y="3310128"/>
            <a:ext cx="8229600" cy="274320"/>
          </a:xfrm>
          <a:prstGeom prst="rect">
            <a:avLst/>
          </a:prstGeom>
          <a:noFill/>
          <a:ln/>
        </p:spPr>
        <p:txBody>
          <a:bodyPr wrap="square" lIns="0" tIns="0" rIns="0" bIns="0" rtlCol="0" anchor="t"/>
          <a:lstStyle/>
          <a:p>
            <a:pPr algn="l" indent="0" marL="0">
              <a:buNone/>
            </a:pPr>
            <a:r>
              <a:rPr lang="en-US" sz="1500" dirty="0">
                <a:solidFill>
                  <a:srgbClr val="B9CDD8"/>
                </a:solidFill>
                <a:latin typeface="Calibri" pitchFamily="34" charset="0"/>
                <a:ea typeface="Calibri" pitchFamily="34" charset="-122"/>
                <a:cs typeface="Calibri" pitchFamily="34" charset="-120"/>
              </a:rPr>
              <a:t>Vincenzo Coia   ·   ESA progress meeting   ·   15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UPDATES</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probaverse: new releases on CRAN</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distionary and distplyr both have new versions out.</a:t>
            </a:r>
            <a:endParaRPr lang="en-US" sz="1350" dirty="0"/>
          </a:p>
        </p:txBody>
      </p:sp>
      <p:sp>
        <p:nvSpPr>
          <p:cNvPr id="5" name="Shape 3"/>
          <p:cNvSpPr/>
          <p:nvPr/>
        </p:nvSpPr>
        <p:spPr>
          <a:xfrm>
            <a:off x="457200" y="1481328"/>
            <a:ext cx="8229600" cy="713232"/>
          </a:xfrm>
          <a:prstGeom prst="rect">
            <a:avLst/>
          </a:prstGeom>
          <a:solidFill>
            <a:srgbClr val="F6E3DC"/>
          </a:solidFill>
          <a:ln w="12700">
            <a:solidFill>
              <a:srgbClr val="F6E3DC"/>
            </a:solidFill>
            <a:prstDash val="solid"/>
          </a:ln>
        </p:spPr>
      </p:sp>
      <p:sp>
        <p:nvSpPr>
          <p:cNvPr id="6" name="Text 4"/>
          <p:cNvSpPr txBox="1"/>
          <p:nvPr/>
        </p:nvSpPr>
        <p:spPr>
          <a:xfrm>
            <a:off x="713232" y="1481328"/>
            <a:ext cx="7717536" cy="713232"/>
          </a:xfrm>
          <a:prstGeom prst="rect">
            <a:avLst/>
          </a:prstGeom>
          <a:noFill/>
          <a:ln/>
        </p:spPr>
        <p:txBody>
          <a:bodyPr wrap="square" lIns="0" tIns="0" rIns="0" bIns="0" rtlCol="0" anchor="ctr"/>
          <a:lstStyle/>
          <a:p>
            <a:pPr algn="l" indent="0" marL="0">
              <a:buNone/>
            </a:pPr>
            <a:r>
              <a:rPr lang="en-US" sz="1500" dirty="0">
                <a:solidFill>
                  <a:srgbClr val="16333F"/>
                </a:solidFill>
                <a:latin typeface="Calibri" pitchFamily="34" charset="0"/>
                <a:ea typeface="Calibri" pitchFamily="34" charset="-122"/>
                <a:cs typeface="Calibri" pitchFamily="34" charset="-120"/>
              </a:rPr>
              <a:t>The graft machinery is now published in the packages, rather than living as loose code in the project repository.</a:t>
            </a:r>
            <a:endParaRPr lang="en-US" sz="1500" dirty="0"/>
          </a:p>
        </p:txBody>
      </p:sp>
      <p:sp>
        <p:nvSpPr>
          <p:cNvPr id="7" name="Text 5"/>
          <p:cNvSpPr txBox="1"/>
          <p:nvPr/>
        </p:nvSpPr>
        <p:spPr>
          <a:xfrm>
            <a:off x="457200" y="2432304"/>
            <a:ext cx="2148840" cy="512064"/>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Supports</a:t>
            </a:r>
            <a:endParaRPr lang="en-US" sz="1500" dirty="0"/>
          </a:p>
        </p:txBody>
      </p:sp>
      <p:sp>
        <p:nvSpPr>
          <p:cNvPr id="8" name="Text 6"/>
          <p:cNvSpPr txBox="1"/>
          <p:nvPr/>
        </p:nvSpPr>
        <p:spPr>
          <a:xfrm>
            <a:off x="2743200" y="2432304"/>
            <a:ext cx="5943600" cy="512064"/>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A distribution knows where it lives, not only what it evaluates to. Now complete.</a:t>
            </a:r>
            <a:endParaRPr lang="en-US" sz="1500" dirty="0"/>
          </a:p>
        </p:txBody>
      </p:sp>
      <p:sp>
        <p:nvSpPr>
          <p:cNvPr id="9" name="Shape 7"/>
          <p:cNvSpPr/>
          <p:nvPr/>
        </p:nvSpPr>
        <p:spPr>
          <a:xfrm>
            <a:off x="457200" y="2980944"/>
            <a:ext cx="8229600" cy="0"/>
          </a:xfrm>
          <a:prstGeom prst="line">
            <a:avLst/>
          </a:prstGeom>
          <a:noFill/>
          <a:ln w="9525">
            <a:solidFill>
              <a:srgbClr val="D5DEE3"/>
            </a:solidFill>
            <a:prstDash val="solid"/>
          </a:ln>
        </p:spPr>
      </p:sp>
      <p:sp>
        <p:nvSpPr>
          <p:cNvPr id="10" name="Text 8"/>
          <p:cNvSpPr txBox="1"/>
          <p:nvPr/>
        </p:nvSpPr>
        <p:spPr>
          <a:xfrm>
            <a:off x="457200" y="3035808"/>
            <a:ext cx="2148840" cy="512064"/>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Discrete parts</a:t>
            </a:r>
            <a:endParaRPr lang="en-US" sz="1500" dirty="0"/>
          </a:p>
        </p:txBody>
      </p:sp>
      <p:sp>
        <p:nvSpPr>
          <p:cNvPr id="11" name="Text 9"/>
          <p:cNvSpPr txBox="1"/>
          <p:nvPr/>
        </p:nvSpPr>
        <p:spPr>
          <a:xfrm>
            <a:off x="2743200" y="3035808"/>
            <a:ext cx="5943600" cy="512064"/>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Algorithms anticipate distributions with a discrete component, and are faster for it.</a:t>
            </a:r>
            <a:endParaRPr lang="en-US" sz="1500" dirty="0"/>
          </a:p>
        </p:txBody>
      </p:sp>
      <p:sp>
        <p:nvSpPr>
          <p:cNvPr id="12" name="Shape 10"/>
          <p:cNvSpPr/>
          <p:nvPr/>
        </p:nvSpPr>
        <p:spPr>
          <a:xfrm>
            <a:off x="457200" y="3584448"/>
            <a:ext cx="8229600" cy="0"/>
          </a:xfrm>
          <a:prstGeom prst="line">
            <a:avLst/>
          </a:prstGeom>
          <a:noFill/>
          <a:ln w="9525">
            <a:solidFill>
              <a:srgbClr val="D5DEE3"/>
            </a:solidFill>
            <a:prstDash val="solid"/>
          </a:ln>
        </p:spPr>
      </p:sp>
      <p:sp>
        <p:nvSpPr>
          <p:cNvPr id="13" name="Text 11"/>
          <p:cNvSpPr txBox="1"/>
          <p:nvPr/>
        </p:nvSpPr>
        <p:spPr>
          <a:xfrm>
            <a:off x="457200" y="3639312"/>
            <a:ext cx="2148840" cy="512064"/>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Hard graft</a:t>
            </a:r>
            <a:endParaRPr lang="en-US" sz="1500" dirty="0"/>
          </a:p>
        </p:txBody>
      </p:sp>
      <p:sp>
        <p:nvSpPr>
          <p:cNvPr id="14" name="Text 12"/>
          <p:cNvSpPr txBox="1"/>
          <p:nvPr/>
        </p:nvSpPr>
        <p:spPr>
          <a:xfrm>
            <a:off x="2743200" y="3639312"/>
            <a:ext cx="5943600" cy="512064"/>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Supported in distplyr. The smooth graft comes later in this deck.</a:t>
            </a:r>
            <a:endParaRPr lang="en-US" sz="1500" dirty="0"/>
          </a:p>
        </p:txBody>
      </p:sp>
      <p:sp>
        <p:nvSpPr>
          <p:cNvPr id="15" name="Shape 13"/>
          <p:cNvSpPr/>
          <p:nvPr/>
        </p:nvSpPr>
        <p:spPr>
          <a:xfrm>
            <a:off x="457200" y="4187952"/>
            <a:ext cx="8229600" cy="0"/>
          </a:xfrm>
          <a:prstGeom prst="line">
            <a:avLst/>
          </a:prstGeom>
          <a:noFill/>
          <a:ln w="9525">
            <a:solidFill>
              <a:srgbClr val="D5DEE3"/>
            </a:solidFill>
            <a:prstDash val="solid"/>
          </a:ln>
        </p:spPr>
      </p:sp>
      <p:sp>
        <p:nvSpPr>
          <p:cNvPr id="16" name="Text 14"/>
          <p:cNvSpPr txBox="1"/>
          <p:nvPr/>
        </p:nvSpPr>
        <p:spPr>
          <a:xfrm>
            <a:off x="457200" y="4242816"/>
            <a:ext cx="2148840" cy="512064"/>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JOSS</a:t>
            </a:r>
            <a:endParaRPr lang="en-US" sz="1500" dirty="0"/>
          </a:p>
        </p:txBody>
      </p:sp>
      <p:sp>
        <p:nvSpPr>
          <p:cNvPr id="17" name="Text 15"/>
          <p:cNvSpPr txBox="1"/>
          <p:nvPr/>
        </p:nvSpPr>
        <p:spPr>
          <a:xfrm>
            <a:off x="2743200" y="4242816"/>
            <a:ext cx="5943600" cy="512064"/>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Software paper submitted.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33F"/>
        </a:solidFill>
      </p:bgPr>
    </p:bg>
    <p:spTree>
      <p:nvGrpSpPr>
        <p:cNvPr id="1" name=""/>
        <p:cNvGrpSpPr/>
        <p:nvPr/>
      </p:nvGrpSpPr>
      <p:grpSpPr>
        <a:xfrm>
          <a:off x="0" y="0"/>
          <a:ext cx="0" cy="0"/>
          <a:chOff x="0" y="0"/>
          <a:chExt cx="0" cy="0"/>
        </a:xfrm>
      </p:grpSpPr>
      <p:sp>
        <p:nvSpPr>
          <p:cNvPr id="2" name="Text 0"/>
          <p:cNvSpPr txBox="1"/>
          <p:nvPr/>
        </p:nvSpPr>
        <p:spPr>
          <a:xfrm>
            <a:off x="457200" y="1554480"/>
            <a:ext cx="8229600" cy="256032"/>
          </a:xfrm>
          <a:prstGeom prst="rect">
            <a:avLst/>
          </a:prstGeom>
          <a:noFill/>
          <a:ln/>
        </p:spPr>
        <p:txBody>
          <a:bodyPr wrap="square" lIns="0" tIns="0" rIns="0" bIns="0" rtlCol="0" anchor="t"/>
          <a:lstStyle/>
          <a:p>
            <a:pPr algn="l" indent="0" marL="0">
              <a:buNone/>
            </a:pPr>
            <a:r>
              <a:rPr lang="en-US" sz="1200" b="1" dirty="0">
                <a:solidFill>
                  <a:srgbClr val="C1440E"/>
                </a:solidFill>
                <a:latin typeface="Calibri" pitchFamily="34" charset="0"/>
                <a:ea typeface="Calibri" pitchFamily="34" charset="-122"/>
                <a:cs typeface="Calibri" pitchFamily="34" charset="-120"/>
              </a:rPr>
              <a:t>SECTION ONE</a:t>
            </a:r>
            <a:endParaRPr lang="en-US" sz="1200" dirty="0"/>
          </a:p>
        </p:txBody>
      </p:sp>
      <p:sp>
        <p:nvSpPr>
          <p:cNvPr id="3" name="Text 1"/>
          <p:cNvSpPr txBox="1"/>
          <p:nvPr/>
        </p:nvSpPr>
        <p:spPr>
          <a:xfrm>
            <a:off x="457200" y="1956816"/>
            <a:ext cx="8229600" cy="8229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Rain-on-snow</a:t>
            </a:r>
            <a:endParaRPr lang="en-US" sz="3800" dirty="0"/>
          </a:p>
        </p:txBody>
      </p:sp>
      <p:sp>
        <p:nvSpPr>
          <p:cNvPr id="4" name="Text 2"/>
          <p:cNvSpPr txBox="1"/>
          <p:nvPr/>
        </p:nvSpPr>
        <p:spPr>
          <a:xfrm>
            <a:off x="457200" y="2871216"/>
            <a:ext cx="8229600" cy="640080"/>
          </a:xfrm>
          <a:prstGeom prst="rect">
            <a:avLst/>
          </a:prstGeom>
          <a:noFill/>
          <a:ln/>
        </p:spPr>
        <p:txBody>
          <a:bodyPr wrap="square" lIns="0" tIns="0" rIns="0" bIns="0" rtlCol="0" anchor="t"/>
          <a:lstStyle/>
          <a:p>
            <a:pPr algn="l" indent="0" marL="0">
              <a:buNone/>
            </a:pPr>
            <a:r>
              <a:rPr lang="en-US" sz="1500" dirty="0">
                <a:solidFill>
                  <a:srgbClr val="9DBBCA"/>
                </a:solidFill>
                <a:latin typeface="Calibri" pitchFamily="34" charset="0"/>
                <a:ea typeface="Calibri" pitchFamily="34" charset="-122"/>
                <a:cs typeface="Calibri" pitchFamily="34" charset="-120"/>
              </a:rPr>
              <a:t>Which mix of rain and snowmelt sits behind a T-year runoff event.</a:t>
            </a:r>
            <a:endParaRPr lang="en-US" sz="1500" dirty="0"/>
          </a:p>
        </p:txBody>
      </p:sp>
      <p:sp>
        <p:nvSpPr>
          <p:cNvPr id="5" name="Text 3"/>
          <p:cNvSpPr txBox="1"/>
          <p:nvPr/>
        </p:nvSpPr>
        <p:spPr>
          <a:xfrm>
            <a:off x="8138160" y="4261104"/>
            <a:ext cx="548640" cy="530352"/>
          </a:xfrm>
          <a:prstGeom prst="rect">
            <a:avLst/>
          </a:prstGeom>
          <a:noFill/>
          <a:ln/>
        </p:spPr>
        <p:txBody>
          <a:bodyPr wrap="square" lIns="0" tIns="0" rIns="0" bIns="0" rtlCol="0" anchor="t"/>
          <a:lstStyle/>
          <a:p>
            <a:pPr algn="r" indent="0" marL="0">
              <a:buNone/>
            </a:pPr>
            <a:r>
              <a:rPr lang="en-US" sz="3000" b="1" dirty="0">
                <a:solidFill>
                  <a:srgbClr val="2C4C5C"/>
                </a:solidFill>
                <a:latin typeface="Cambria" pitchFamily="34" charset="0"/>
                <a:ea typeface="Cambria" pitchFamily="34" charset="-122"/>
                <a:cs typeface="Cambria" pitchFamily="34" charset="-120"/>
              </a:rPr>
              <a:t>1</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RAIN-ON-SNOW</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Dials of risk</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Rain and snowmelt behind the T-year runoff event, as T grows.  Cell 3.</a:t>
            </a:r>
            <a:endParaRPr lang="en-US" sz="1350" dirty="0"/>
          </a:p>
        </p:txBody>
      </p:sp>
      <p:pic>
        <p:nvPicPr>
          <p:cNvPr id="5" name="Image 0" descr="/Users/vincenzocoia/1-projects-git/rainonsnow/presentations/2026-09-15-esa/figs/dials-of-risk.gif">    </p:cNvPr>
          <p:cNvPicPr>
            <a:picLocks noChangeAspect="1"/>
          </p:cNvPicPr>
          <p:nvPr/>
        </p:nvPicPr>
        <p:blipFill>
          <a:blip r:embed="rId1"/>
          <a:stretch>
            <a:fillRect/>
          </a:stretch>
        </p:blipFill>
        <p:spPr>
          <a:xfrm>
            <a:off x="411480" y="1453896"/>
            <a:ext cx="4480560" cy="3360420"/>
          </a:xfrm>
          <a:prstGeom prst="rect">
            <a:avLst/>
          </a:prstGeom>
        </p:spPr>
      </p:pic>
      <p:sp>
        <p:nvSpPr>
          <p:cNvPr id="6" name="Text 3"/>
          <p:cNvSpPr txBox="1"/>
          <p:nvPr/>
        </p:nvSpPr>
        <p:spPr>
          <a:xfrm>
            <a:off x="5166360" y="1444752"/>
            <a:ext cx="3520440" cy="256032"/>
          </a:xfrm>
          <a:prstGeom prst="rect">
            <a:avLst/>
          </a:prstGeom>
          <a:noFill/>
          <a:ln/>
        </p:spPr>
        <p:txBody>
          <a:bodyPr wrap="square" lIns="0" tIns="0" rIns="0" bIns="0" rtlCol="0" anchor="t"/>
          <a:lstStyle/>
          <a:p>
            <a:pPr algn="l" indent="0" marL="0">
              <a:buNone/>
            </a:pPr>
            <a:r>
              <a:rPr lang="en-US" sz="1200" b="1" dirty="0">
                <a:solidFill>
                  <a:srgbClr val="1F5673"/>
                </a:solidFill>
                <a:latin typeface="Calibri" pitchFamily="34" charset="0"/>
                <a:ea typeface="Calibri" pitchFamily="34" charset="-122"/>
                <a:cs typeface="Calibri" pitchFamily="34" charset="-120"/>
              </a:rPr>
              <a:t>What to watch</a:t>
            </a:r>
            <a:endParaRPr lang="en-US" sz="1200" dirty="0"/>
          </a:p>
        </p:txBody>
      </p:sp>
      <p:sp>
        <p:nvSpPr>
          <p:cNvPr id="7" name="Text 4"/>
          <p:cNvSpPr txBox="1"/>
          <p:nvPr/>
        </p:nvSpPr>
        <p:spPr>
          <a:xfrm>
            <a:off x="5166360" y="1773936"/>
            <a:ext cx="3520440" cy="731520"/>
          </a:xfrm>
          <a:prstGeom prst="rect">
            <a:avLst/>
          </a:prstGeom>
          <a:noFill/>
          <a:ln/>
        </p:spPr>
        <p:txBody>
          <a:bodyPr wrap="square" lIns="0" tIns="0" rIns="0" bIns="0" rtlCol="0" anchor="t"/>
          <a:lstStyle/>
          <a:p>
            <a:pPr algn="l" indent="0" marL="0">
              <a:buNone/>
            </a:pPr>
            <a:r>
              <a:rPr lang="en-US" sz="1400" dirty="0">
                <a:solidFill>
                  <a:srgbClr val="16333F"/>
                </a:solidFill>
                <a:latin typeface="Calibri" pitchFamily="34" charset="0"/>
                <a:ea typeface="Calibri" pitchFamily="34" charset="-122"/>
                <a:cs typeface="Calibri" pitchFamily="34" charset="-120"/>
              </a:rPr>
              <a:t>As T grows, the likeliest mix moves towards rain alone: more rainfall, with an ordinary snowmelt.</a:t>
            </a:r>
            <a:endParaRPr lang="en-US" sz="1400" dirty="0"/>
          </a:p>
        </p:txBody>
      </p:sp>
      <p:sp>
        <p:nvSpPr>
          <p:cNvPr id="8" name="Shape 5"/>
          <p:cNvSpPr/>
          <p:nvPr/>
        </p:nvSpPr>
        <p:spPr>
          <a:xfrm>
            <a:off x="5166360" y="2615184"/>
            <a:ext cx="3520440" cy="2139696"/>
          </a:xfrm>
          <a:prstGeom prst="rect">
            <a:avLst/>
          </a:prstGeom>
          <a:solidFill>
            <a:srgbClr val="F6E3DC"/>
          </a:solidFill>
          <a:ln w="12700">
            <a:solidFill>
              <a:srgbClr val="F6E3DC"/>
            </a:solidFill>
            <a:prstDash val="solid"/>
          </a:ln>
        </p:spPr>
      </p:sp>
      <p:sp>
        <p:nvSpPr>
          <p:cNvPr id="9" name="Text 6"/>
          <p:cNvSpPr txBox="1"/>
          <p:nvPr/>
        </p:nvSpPr>
        <p:spPr>
          <a:xfrm>
            <a:off x="5394960" y="2724912"/>
            <a:ext cx="3072384" cy="1956816"/>
          </a:xfrm>
          <a:prstGeom prst="rect">
            <a:avLst/>
          </a:prstGeom>
          <a:noFill/>
          <a:ln/>
        </p:spPr>
        <p:txBody>
          <a:bodyPr wrap="square" lIns="0" tIns="0" rIns="0" bIns="0" rtlCol="0" anchor="t"/>
          <a:lstStyle/>
          <a:p>
            <a:pPr algn="l" indent="0" marL="0">
              <a:spcAft>
                <a:spcPts val="600"/>
              </a:spcAft>
              <a:buNone/>
            </a:pPr>
            <a:r>
              <a:rPr lang="en-US" sz="1500" b="1" dirty="0">
                <a:solidFill>
                  <a:srgbClr val="C1440E"/>
                </a:solidFill>
                <a:latin typeface="Calibri" pitchFamily="34" charset="0"/>
                <a:ea typeface="Calibri" pitchFamily="34" charset="-122"/>
                <a:cs typeface="Calibri" pitchFamily="34" charset="-120"/>
              </a:rPr>
              <a:t>Not yet reliable.</a:t>
            </a:r>
            <a:endParaRPr lang="en-US" sz="1500" dirty="0"/>
          </a:p>
          <a:p>
            <a:pPr algn="l" indent="0" marL="0">
              <a:spcAft>
                <a:spcPts val="600"/>
              </a:spcAft>
              <a:buNone/>
            </a:pPr>
            <a:r>
              <a:rPr lang="en-US" sz="1350" dirty="0">
                <a:solidFill>
                  <a:srgbClr val="16333F"/>
                </a:solidFill>
                <a:latin typeface="Calibri" pitchFamily="34" charset="0"/>
                <a:ea typeface="Calibri" pitchFamily="34" charset="-122"/>
                <a:cs typeface="Calibri" pitchFamily="34" charset="-120"/>
              </a:rPr>
              <a:t>Key problems in the distributional learning model sit under this picture: the learned conditionals stop where the data stop, so the rare-event end is the least trustworthy part.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RAIN-ON-SNOW</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The next question</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Condition on the state of the snowpack, not only on what is falling on it.</a:t>
            </a:r>
            <a:endParaRPr lang="en-US" sz="1350" dirty="0"/>
          </a:p>
        </p:txBody>
      </p:sp>
      <p:sp>
        <p:nvSpPr>
          <p:cNvPr id="5" name="Shape 3"/>
          <p:cNvSpPr/>
          <p:nvPr/>
        </p:nvSpPr>
        <p:spPr>
          <a:xfrm>
            <a:off x="457200" y="1481328"/>
            <a:ext cx="8229600" cy="1115568"/>
          </a:xfrm>
          <a:prstGeom prst="rect">
            <a:avLst/>
          </a:prstGeom>
          <a:solidFill>
            <a:srgbClr val="F6E3DC"/>
          </a:solidFill>
          <a:ln w="12700">
            <a:solidFill>
              <a:srgbClr val="F6E3DC"/>
            </a:solidFill>
            <a:prstDash val="solid"/>
          </a:ln>
        </p:spPr>
      </p:sp>
      <p:sp>
        <p:nvSpPr>
          <p:cNvPr id="6" name="Text 4"/>
          <p:cNvSpPr txBox="1"/>
          <p:nvPr/>
        </p:nvSpPr>
        <p:spPr>
          <a:xfrm>
            <a:off x="777240" y="1481328"/>
            <a:ext cx="7589520" cy="1115568"/>
          </a:xfrm>
          <a:prstGeom prst="rect">
            <a:avLst/>
          </a:prstGeom>
          <a:noFill/>
          <a:ln/>
        </p:spPr>
        <p:txBody>
          <a:bodyPr wrap="square" lIns="0" tIns="0" rIns="0" bIns="0" rtlCol="0" anchor="ctr"/>
          <a:lstStyle/>
          <a:p>
            <a:pPr algn="l" indent="0" marL="0">
              <a:buNone/>
            </a:pPr>
            <a:r>
              <a:rPr lang="en-US" sz="2100" b="1" dirty="0">
                <a:solidFill>
                  <a:srgbClr val="16333F"/>
                </a:solidFill>
                <a:latin typeface="Cambria" pitchFamily="34" charset="0"/>
                <a:ea typeface="Cambria" pitchFamily="34" charset="-122"/>
                <a:cs typeface="Cambria" pitchFamily="34" charset="-120"/>
              </a:rPr>
              <a:t>For a T-year runoff event, with a given amount of water available in the snowpack, how much rain is enough to trigger it?</a:t>
            </a:r>
            <a:endParaRPr lang="en-US" sz="2100" dirty="0"/>
          </a:p>
        </p:txBody>
      </p:sp>
      <p:sp>
        <p:nvSpPr>
          <p:cNvPr id="7" name="Text 5"/>
          <p:cNvSpPr txBox="1"/>
          <p:nvPr/>
        </p:nvSpPr>
        <p:spPr>
          <a:xfrm>
            <a:off x="457200" y="2852928"/>
            <a:ext cx="2148840" cy="566928"/>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The new driver</a:t>
            </a:r>
            <a:endParaRPr lang="en-US" sz="1500" dirty="0"/>
          </a:p>
        </p:txBody>
      </p:sp>
      <p:sp>
        <p:nvSpPr>
          <p:cNvPr id="8" name="Text 6"/>
          <p:cNvSpPr txBox="1"/>
          <p:nvPr/>
        </p:nvSpPr>
        <p:spPr>
          <a:xfrm>
            <a:off x="2743200" y="2852928"/>
            <a:ext cx="5943600" cy="566928"/>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Water available in the snowpack, which is closely tied to snow wetness.</a:t>
            </a:r>
            <a:endParaRPr lang="en-US" sz="1500" dirty="0"/>
          </a:p>
        </p:txBody>
      </p:sp>
      <p:sp>
        <p:nvSpPr>
          <p:cNvPr id="9" name="Shape 7"/>
          <p:cNvSpPr/>
          <p:nvPr/>
        </p:nvSpPr>
        <p:spPr>
          <a:xfrm>
            <a:off x="457200" y="3456432"/>
            <a:ext cx="8229600" cy="0"/>
          </a:xfrm>
          <a:prstGeom prst="line">
            <a:avLst/>
          </a:prstGeom>
          <a:noFill/>
          <a:ln w="9525">
            <a:solidFill>
              <a:srgbClr val="D5DEE3"/>
            </a:solidFill>
            <a:prstDash val="solid"/>
          </a:ln>
        </p:spPr>
      </p:sp>
      <p:sp>
        <p:nvSpPr>
          <p:cNvPr id="10" name="Text 8"/>
          <p:cNvSpPr txBox="1"/>
          <p:nvPr/>
        </p:nvSpPr>
        <p:spPr>
          <a:xfrm>
            <a:off x="457200" y="3511296"/>
            <a:ext cx="2148840" cy="566928"/>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Where ESA comes in</a:t>
            </a:r>
            <a:endParaRPr lang="en-US" sz="1500" dirty="0"/>
          </a:p>
        </p:txBody>
      </p:sp>
      <p:sp>
        <p:nvSpPr>
          <p:cNvPr id="11" name="Text 9"/>
          <p:cNvSpPr txBox="1"/>
          <p:nvPr/>
        </p:nvSpPr>
        <p:spPr>
          <a:xfrm>
            <a:off x="2743200" y="3511296"/>
            <a:ext cx="5943600" cy="566928"/>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Snow wetness is observed from space: the natural moment to bring in an ESA data product.</a:t>
            </a:r>
            <a:endParaRPr lang="en-US" sz="1500" dirty="0"/>
          </a:p>
        </p:txBody>
      </p:sp>
      <p:sp>
        <p:nvSpPr>
          <p:cNvPr id="12" name="Shape 10"/>
          <p:cNvSpPr/>
          <p:nvPr/>
        </p:nvSpPr>
        <p:spPr>
          <a:xfrm>
            <a:off x="457200" y="4114800"/>
            <a:ext cx="8229600" cy="0"/>
          </a:xfrm>
          <a:prstGeom prst="line">
            <a:avLst/>
          </a:prstGeom>
          <a:noFill/>
          <a:ln w="9525">
            <a:solidFill>
              <a:srgbClr val="D5DEE3"/>
            </a:solidFill>
            <a:prstDash val="solid"/>
          </a:ln>
        </p:spPr>
      </p:sp>
      <p:sp>
        <p:nvSpPr>
          <p:cNvPr id="13" name="Text 11"/>
          <p:cNvSpPr txBox="1"/>
          <p:nvPr/>
        </p:nvSpPr>
        <p:spPr>
          <a:xfrm>
            <a:off x="457200" y="4169664"/>
            <a:ext cx="2148840" cy="566928"/>
          </a:xfrm>
          <a:prstGeom prst="rect">
            <a:avLst/>
          </a:prstGeom>
          <a:noFill/>
          <a:ln/>
        </p:spPr>
        <p:txBody>
          <a:bodyPr wrap="square" lIns="0" tIns="0" rIns="0" bIns="0" rtlCol="0" anchor="t"/>
          <a:lstStyle/>
          <a:p>
            <a:pPr algn="l" indent="0" marL="0">
              <a:buNone/>
            </a:pPr>
            <a:r>
              <a:rPr lang="en-US" sz="1500" b="1" dirty="0">
                <a:solidFill>
                  <a:srgbClr val="1F5673"/>
                </a:solidFill>
                <a:latin typeface="Calibri" pitchFamily="34" charset="0"/>
                <a:ea typeface="Calibri" pitchFamily="34" charset="-122"/>
                <a:cs typeface="Calibri" pitchFamily="34" charset="-120"/>
              </a:rPr>
              <a:t>What is ready</a:t>
            </a:r>
            <a:endParaRPr lang="en-US" sz="1500" dirty="0"/>
          </a:p>
        </p:txBody>
      </p:sp>
      <p:sp>
        <p:nvSpPr>
          <p:cNvPr id="14" name="Text 12"/>
          <p:cNvSpPr txBox="1"/>
          <p:nvPr/>
        </p:nvSpPr>
        <p:spPr>
          <a:xfrm>
            <a:off x="2743200" y="4169664"/>
            <a:ext cx="5943600" cy="566928"/>
          </a:xfrm>
          <a:prstGeom prst="rect">
            <a:avLst/>
          </a:prstGeom>
          <a:noFill/>
          <a:ln/>
        </p:spPr>
        <p:txBody>
          <a:bodyPr wrap="square" lIns="0" tIns="0" rIns="0" bIns="0" rtlCol="0" anchor="t"/>
          <a:lstStyle/>
          <a:p>
            <a:pPr algn="l" indent="0" marL="0">
              <a:buNone/>
            </a:pPr>
            <a:r>
              <a:rPr lang="en-US" sz="1500" dirty="0">
                <a:solidFill>
                  <a:srgbClr val="16333F"/>
                </a:solidFill>
                <a:latin typeface="Calibri" pitchFamily="34" charset="0"/>
                <a:ea typeface="Calibri" pitchFamily="34" charset="-122"/>
                <a:cs typeface="Calibri" pitchFamily="34" charset="-120"/>
              </a:rPr>
              <a:t>The analysis pipeline now takes any driver and answers this question directly.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333F"/>
        </a:solidFill>
      </p:bgPr>
    </p:bg>
    <p:spTree>
      <p:nvGrpSpPr>
        <p:cNvPr id="1" name=""/>
        <p:cNvGrpSpPr/>
        <p:nvPr/>
      </p:nvGrpSpPr>
      <p:grpSpPr>
        <a:xfrm>
          <a:off x="0" y="0"/>
          <a:ext cx="0" cy="0"/>
          <a:chOff x="0" y="0"/>
          <a:chExt cx="0" cy="0"/>
        </a:xfrm>
      </p:grpSpPr>
      <p:sp>
        <p:nvSpPr>
          <p:cNvPr id="2" name="Text 0"/>
          <p:cNvSpPr txBox="1"/>
          <p:nvPr/>
        </p:nvSpPr>
        <p:spPr>
          <a:xfrm>
            <a:off x="457200" y="1554480"/>
            <a:ext cx="8229600" cy="256032"/>
          </a:xfrm>
          <a:prstGeom prst="rect">
            <a:avLst/>
          </a:prstGeom>
          <a:noFill/>
          <a:ln/>
        </p:spPr>
        <p:txBody>
          <a:bodyPr wrap="square" lIns="0" tIns="0" rIns="0" bIns="0" rtlCol="0" anchor="t"/>
          <a:lstStyle/>
          <a:p>
            <a:pPr algn="l" indent="0" marL="0">
              <a:buNone/>
            </a:pPr>
            <a:r>
              <a:rPr lang="en-US" sz="1200" b="1" dirty="0">
                <a:solidFill>
                  <a:srgbClr val="C1440E"/>
                </a:solidFill>
                <a:latin typeface="Calibri" pitchFamily="34" charset="0"/>
                <a:ea typeface="Calibri" pitchFamily="34" charset="-122"/>
                <a:cs typeface="Calibri" pitchFamily="34" charset="-120"/>
              </a:rPr>
              <a:t>SECTION TWO</a:t>
            </a:r>
            <a:endParaRPr lang="en-US" sz="1200" dirty="0"/>
          </a:p>
        </p:txBody>
      </p:sp>
      <p:sp>
        <p:nvSpPr>
          <p:cNvPr id="3" name="Text 1"/>
          <p:cNvSpPr txBox="1"/>
          <p:nvPr/>
        </p:nvSpPr>
        <p:spPr>
          <a:xfrm>
            <a:off x="457200" y="1956816"/>
            <a:ext cx="8229600" cy="8229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Statistical developments</a:t>
            </a:r>
            <a:endParaRPr lang="en-US" sz="3800" dirty="0"/>
          </a:p>
        </p:txBody>
      </p:sp>
      <p:sp>
        <p:nvSpPr>
          <p:cNvPr id="4" name="Text 2"/>
          <p:cNvSpPr txBox="1"/>
          <p:nvPr/>
        </p:nvSpPr>
        <p:spPr>
          <a:xfrm>
            <a:off x="457200" y="2871216"/>
            <a:ext cx="8229600" cy="640080"/>
          </a:xfrm>
          <a:prstGeom prst="rect">
            <a:avLst/>
          </a:prstGeom>
          <a:noFill/>
          <a:ln/>
        </p:spPr>
        <p:txBody>
          <a:bodyPr wrap="square" lIns="0" tIns="0" rIns="0" bIns="0" rtlCol="0" anchor="t"/>
          <a:lstStyle/>
          <a:p>
            <a:pPr algn="l" indent="0" marL="0">
              <a:buNone/>
            </a:pPr>
            <a:r>
              <a:rPr lang="en-US" sz="1500" dirty="0">
                <a:solidFill>
                  <a:srgbClr val="9DBBCA"/>
                </a:solidFill>
                <a:latin typeface="Calibri" pitchFamily="34" charset="0"/>
                <a:ea typeface="Calibri" pitchFamily="34" charset="-122"/>
                <a:cs typeface="Calibri" pitchFamily="34" charset="-120"/>
              </a:rPr>
              <a:t>Tail estimation now pays off. The learning model has two new challenges.</a:t>
            </a:r>
            <a:endParaRPr lang="en-US" sz="1500" dirty="0"/>
          </a:p>
        </p:txBody>
      </p:sp>
      <p:sp>
        <p:nvSpPr>
          <p:cNvPr id="5" name="Text 3"/>
          <p:cNvSpPr txBox="1"/>
          <p:nvPr/>
        </p:nvSpPr>
        <p:spPr>
          <a:xfrm>
            <a:off x="8138160" y="4261104"/>
            <a:ext cx="548640" cy="530352"/>
          </a:xfrm>
          <a:prstGeom prst="rect">
            <a:avLst/>
          </a:prstGeom>
          <a:noFill/>
          <a:ln/>
        </p:spPr>
        <p:txBody>
          <a:bodyPr wrap="square" lIns="0" tIns="0" rIns="0" bIns="0" rtlCol="0" anchor="t"/>
          <a:lstStyle/>
          <a:p>
            <a:pPr algn="r" indent="0" marL="0">
              <a:buNone/>
            </a:pPr>
            <a:r>
              <a:rPr lang="en-US" sz="3000" b="1" dirty="0">
                <a:solidFill>
                  <a:srgbClr val="2C4C5C"/>
                </a:solidFill>
                <a:latin typeface="Cambria" pitchFamily="34" charset="0"/>
                <a:ea typeface="Cambria" pitchFamily="34" charset="-122"/>
                <a:cs typeface="Cambria" pitchFamily="34" charset="-120"/>
              </a:rPr>
              <a:t>2</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TAIL ESTIMATION</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The smooth graft, revisited</a:t>
            </a:r>
            <a:endParaRPr lang="en-US" sz="2800" dirty="0"/>
          </a:p>
        </p:txBody>
      </p:sp>
      <p:sp>
        <p:nvSpPr>
          <p:cNvPr id="4" name="Shape 2"/>
          <p:cNvSpPr/>
          <p:nvPr/>
        </p:nvSpPr>
        <p:spPr>
          <a:xfrm>
            <a:off x="457200" y="1325880"/>
            <a:ext cx="3977640" cy="2240280"/>
          </a:xfrm>
          <a:prstGeom prst="rect">
            <a:avLst/>
          </a:prstGeom>
          <a:solidFill>
            <a:srgbClr val="EDF2F5"/>
          </a:solidFill>
          <a:ln w="12700">
            <a:solidFill>
              <a:srgbClr val="EDF2F5"/>
            </a:solidFill>
            <a:prstDash val="solid"/>
          </a:ln>
        </p:spPr>
      </p:sp>
      <p:sp>
        <p:nvSpPr>
          <p:cNvPr id="5" name="Text 3"/>
          <p:cNvSpPr txBox="1"/>
          <p:nvPr/>
        </p:nvSpPr>
        <p:spPr>
          <a:xfrm>
            <a:off x="731520" y="1527048"/>
            <a:ext cx="3456432" cy="1874520"/>
          </a:xfrm>
          <a:prstGeom prst="rect">
            <a:avLst/>
          </a:prstGeom>
          <a:noFill/>
          <a:ln/>
        </p:spPr>
        <p:txBody>
          <a:bodyPr wrap="square" lIns="0" tIns="0" rIns="0" bIns="0" rtlCol="0" anchor="t"/>
          <a:lstStyle/>
          <a:p>
            <a:pPr algn="l" indent="0" marL="0">
              <a:spcAft>
                <a:spcPts val="1000"/>
              </a:spcAft>
              <a:buNone/>
            </a:pPr>
            <a:r>
              <a:rPr lang="en-US" sz="1700" b="1" dirty="0">
                <a:solidFill>
                  <a:srgbClr val="1F5673"/>
                </a:solidFill>
                <a:latin typeface="Calibri" pitchFamily="34" charset="0"/>
                <a:ea typeface="Calibri" pitchFamily="34" charset="-122"/>
                <a:cs typeface="Calibri" pitchFamily="34" charset="-120"/>
              </a:rPr>
              <a:t>Where we left off</a:t>
            </a:r>
            <a:endParaRPr lang="en-US" sz="1700" dirty="0"/>
          </a:p>
          <a:p>
            <a:pPr algn="l" indent="0" marL="0">
              <a:spcAft>
                <a:spcPts val="1000"/>
              </a:spcAft>
              <a:buNone/>
            </a:pPr>
            <a:r>
              <a:rPr lang="en-US" sz="1500" dirty="0">
                <a:solidFill>
                  <a:srgbClr val="16333F"/>
                </a:solidFill>
                <a:latin typeface="Calibri" pitchFamily="34" charset="0"/>
                <a:ea typeface="Calibri" pitchFamily="34" charset="-122"/>
                <a:cs typeface="Calibri" pitchFamily="34" charset="-120"/>
              </a:rPr>
              <a:t>The smooth graft on its own did not look like it was worth anything.</a:t>
            </a:r>
            <a:endParaRPr lang="en-US" sz="1700" dirty="0"/>
          </a:p>
          <a:p>
            <a:pPr algn="l" indent="0" marL="0">
              <a:spcAft>
                <a:spcPts val="1000"/>
              </a:spcAft>
              <a:buNone/>
            </a:pPr>
            <a:r>
              <a:rPr lang="en-US" sz="1300" i="1" dirty="0">
                <a:solidFill>
                  <a:srgbClr val="5A6A72"/>
                </a:solidFill>
                <a:latin typeface="Calibri" pitchFamily="34" charset="0"/>
                <a:ea typeface="Calibri" pitchFamily="34" charset="-122"/>
                <a:cs typeface="Calibri" pitchFamily="34" charset="-120"/>
              </a:rPr>
              <a:t>A gentler handover of the same tail.</a:t>
            </a:r>
            <a:endParaRPr lang="en-US" sz="1700" dirty="0"/>
          </a:p>
        </p:txBody>
      </p:sp>
      <p:sp>
        <p:nvSpPr>
          <p:cNvPr id="6" name="Shape 4"/>
          <p:cNvSpPr/>
          <p:nvPr/>
        </p:nvSpPr>
        <p:spPr>
          <a:xfrm>
            <a:off x="4709160" y="1325880"/>
            <a:ext cx="3977640" cy="2240280"/>
          </a:xfrm>
          <a:prstGeom prst="rect">
            <a:avLst/>
          </a:prstGeom>
          <a:solidFill>
            <a:srgbClr val="F6E3DC"/>
          </a:solidFill>
          <a:ln w="12700">
            <a:solidFill>
              <a:srgbClr val="F6E3DC"/>
            </a:solidFill>
            <a:prstDash val="solid"/>
          </a:ln>
        </p:spPr>
      </p:sp>
      <p:sp>
        <p:nvSpPr>
          <p:cNvPr id="7" name="Text 5"/>
          <p:cNvSpPr txBox="1"/>
          <p:nvPr/>
        </p:nvSpPr>
        <p:spPr>
          <a:xfrm>
            <a:off x="4983480" y="1527048"/>
            <a:ext cx="3456432" cy="1874520"/>
          </a:xfrm>
          <a:prstGeom prst="rect">
            <a:avLst/>
          </a:prstGeom>
          <a:noFill/>
          <a:ln/>
        </p:spPr>
        <p:txBody>
          <a:bodyPr wrap="square" lIns="0" tIns="0" rIns="0" bIns="0" rtlCol="0" anchor="t"/>
          <a:lstStyle/>
          <a:p>
            <a:pPr algn="l" indent="0" marL="0">
              <a:spcAft>
                <a:spcPts val="1000"/>
              </a:spcAft>
              <a:buNone/>
            </a:pPr>
            <a:r>
              <a:rPr lang="en-US" sz="1700" b="1" dirty="0">
                <a:solidFill>
                  <a:srgbClr val="C1440E"/>
                </a:solidFill>
                <a:latin typeface="Calibri" pitchFamily="34" charset="0"/>
                <a:ea typeface="Calibri" pitchFamily="34" charset="-122"/>
                <a:cs typeface="Calibri" pitchFamily="34" charset="-120"/>
              </a:rPr>
              <a:t>Where we are now</a:t>
            </a:r>
            <a:endParaRPr lang="en-US" sz="1700" dirty="0"/>
          </a:p>
          <a:p>
            <a:pPr algn="l" indent="0" marL="0">
              <a:spcAft>
                <a:spcPts val="1000"/>
              </a:spcAft>
              <a:buNone/>
            </a:pPr>
            <a:r>
              <a:rPr lang="en-US" sz="1500" dirty="0">
                <a:solidFill>
                  <a:srgbClr val="16333F"/>
                </a:solidFill>
                <a:latin typeface="Calibri" pitchFamily="34" charset="0"/>
                <a:ea typeface="Calibri" pitchFamily="34" charset="-122"/>
                <a:cs typeface="Calibri" pitchFamily="34" charset="-120"/>
              </a:rPr>
              <a:t>Combined with a new composite estimation method, built on expectiles, it improves on classical tail estimation.</a:t>
            </a:r>
            <a:endParaRPr lang="en-US" sz="1700" dirty="0"/>
          </a:p>
          <a:p>
            <a:pPr algn="l" indent="0" marL="0">
              <a:spcAft>
                <a:spcPts val="1000"/>
              </a:spcAft>
              <a:buNone/>
            </a:pPr>
            <a:r>
              <a:rPr lang="en-US" sz="1300" i="1" dirty="0">
                <a:solidFill>
                  <a:srgbClr val="5A6A72"/>
                </a:solidFill>
                <a:latin typeface="Calibri" pitchFamily="34" charset="0"/>
                <a:ea typeface="Calibri" pitchFamily="34" charset="-122"/>
                <a:cs typeface="Calibri" pitchFamily="34" charset="-120"/>
              </a:rPr>
              <a:t>The composite weight doubles as the handover.</a:t>
            </a:r>
            <a:endParaRPr lang="en-US" sz="1700" dirty="0"/>
          </a:p>
        </p:txBody>
      </p:sp>
      <p:sp>
        <p:nvSpPr>
          <p:cNvPr id="8" name="Shape 6"/>
          <p:cNvSpPr/>
          <p:nvPr/>
        </p:nvSpPr>
        <p:spPr>
          <a:xfrm>
            <a:off x="457200" y="3794760"/>
            <a:ext cx="8229600" cy="777240"/>
          </a:xfrm>
          <a:prstGeom prst="rect">
            <a:avLst/>
          </a:prstGeom>
          <a:solidFill>
            <a:srgbClr val="EDF2F5"/>
          </a:solidFill>
          <a:ln w="12700">
            <a:solidFill>
              <a:srgbClr val="EDF2F5"/>
            </a:solidFill>
            <a:prstDash val="solid"/>
          </a:ln>
        </p:spPr>
      </p:sp>
      <p:sp>
        <p:nvSpPr>
          <p:cNvPr id="9" name="Text 7"/>
          <p:cNvSpPr txBox="1"/>
          <p:nvPr/>
        </p:nvSpPr>
        <p:spPr>
          <a:xfrm>
            <a:off x="713232" y="3794760"/>
            <a:ext cx="7717536" cy="777240"/>
          </a:xfrm>
          <a:prstGeom prst="rect">
            <a:avLst/>
          </a:prstGeom>
          <a:noFill/>
          <a:ln/>
        </p:spPr>
        <p:txBody>
          <a:bodyPr wrap="square" lIns="0" tIns="0" rIns="0" bIns="0" rtlCol="0" anchor="ctr"/>
          <a:lstStyle/>
          <a:p>
            <a:pPr algn="l" indent="0" marL="0">
              <a:spcAft>
                <a:spcPts val="300"/>
              </a:spcAft>
              <a:buNone/>
            </a:pPr>
            <a:r>
              <a:rPr lang="en-US" sz="1250" b="1" dirty="0">
                <a:solidFill>
                  <a:srgbClr val="1F5673"/>
                </a:solidFill>
                <a:latin typeface="Calibri" pitchFamily="34" charset="0"/>
                <a:ea typeface="Calibri" pitchFamily="34" charset="-122"/>
                <a:cs typeface="Calibri" pitchFamily="34" charset="-120"/>
              </a:rPr>
              <a:t>The composite estimator: </a:t>
            </a:r>
            <a:pPr algn="l" indent="0" marL="0">
              <a:spcAft>
                <a:spcPts val="300"/>
              </a:spcAft>
              <a:buNone/>
            </a:pPr>
            <a:r>
              <a:rPr lang="en-US" sz="1250" dirty="0">
                <a:solidFill>
                  <a:srgbClr val="16333F"/>
                </a:solidFill>
                <a:latin typeface="Calibri" pitchFamily="34" charset="0"/>
                <a:ea typeface="Calibri" pitchFamily="34" charset="-122"/>
                <a:cs typeface="Calibri" pitchFamily="34" charset="-120"/>
              </a:rPr>
              <a:t>an expectile loss integrated over levels, weighted towards the tail</a:t>
            </a:r>
            <a:endParaRPr lang="en-US" sz="1250" dirty="0"/>
          </a:p>
          <a:p>
            <a:pPr algn="l" indent="0" marL="0">
              <a:spcAft>
                <a:spcPts val="300"/>
              </a:spcAft>
              <a:buNone/>
            </a:pPr>
            <a:r>
              <a:rPr lang="en-US" sz="1300" dirty="0">
                <a:solidFill>
                  <a:srgbClr val="16333F"/>
                </a:solidFill>
                <a:latin typeface="Cambria" pitchFamily="34" charset="0"/>
                <a:ea typeface="Cambria" pitchFamily="34" charset="-122"/>
                <a:cs typeface="Cambria" pitchFamily="34" charset="-120"/>
              </a:rPr>
              <a:t>S(θ)  =  Σᵢ  ∫₀¹  w(p) · | p − 1(yᵢ &lt; E(p|θ)) | · (yᵢ − E(p|θ))²  dp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TAIL ESTIMATION</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Against what practitioners do</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Composite fits: smooth grafted.  Reference: POT-MLE at the 90th percentile, hard grafted.</a:t>
            </a:r>
            <a:endParaRPr lang="en-US" sz="1350" dirty="0"/>
          </a:p>
        </p:txBody>
      </p:sp>
      <p:pic>
        <p:nvPicPr>
          <p:cNvPr id="5" name="Image 0" descr="/Users/vincenzocoia/1-projects-git/rainonsnow/presentations/2026-09-15-esa/figs/tail-vs-practitioners.png">    </p:cNvPr>
          <p:cNvPicPr>
            <a:picLocks noChangeAspect="1"/>
          </p:cNvPicPr>
          <p:nvPr/>
        </p:nvPicPr>
        <p:blipFill>
          <a:blip r:embed="rId1"/>
          <a:stretch>
            <a:fillRect/>
          </a:stretch>
        </p:blipFill>
        <p:spPr>
          <a:xfrm>
            <a:off x="548640" y="1335024"/>
            <a:ext cx="8046720" cy="3218688"/>
          </a:xfrm>
          <a:prstGeom prst="rect">
            <a:avLst/>
          </a:prstGeom>
        </p:spPr>
      </p:pic>
      <p:sp>
        <p:nvSpPr>
          <p:cNvPr id="6" name="Text 3"/>
          <p:cNvSpPr txBox="1"/>
          <p:nvPr/>
        </p:nvSpPr>
        <p:spPr>
          <a:xfrm>
            <a:off x="457200" y="4608576"/>
            <a:ext cx="8229600" cy="457200"/>
          </a:xfrm>
          <a:prstGeom prst="rect">
            <a:avLst/>
          </a:prstGeom>
          <a:noFill/>
          <a:ln/>
        </p:spPr>
        <p:txBody>
          <a:bodyPr wrap="square" lIns="0" tIns="0" rIns="0" bIns="0" rtlCol="0" anchor="t"/>
          <a:lstStyle/>
          <a:p>
            <a:pPr algn="l" indent="0" marL="0">
              <a:buNone/>
            </a:pPr>
            <a:r>
              <a:rPr lang="en-US" sz="1400" i="1" dirty="0">
                <a:solidFill>
                  <a:srgbClr val="C1440E"/>
                </a:solidFill>
                <a:latin typeface="Calibri" pitchFamily="34" charset="0"/>
                <a:ea typeface="Calibri" pitchFamily="34" charset="-122"/>
                <a:cs typeface="Calibri" pitchFamily="34" charset="-120"/>
              </a:rPr>
              <a:t>Composite L2, w = p⁶, smooth grafted: MSE ratio 0.86 at T = 50 falling to 0.21 at T = 1000; closer on 77% of datasets.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DISTRIBUTIONAL LEARNING</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Challenge 1: the marginal of runoff</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Averaging the learned conditionals over the drivers is ill-conditioned, for two reasons.</a:t>
            </a:r>
            <a:endParaRPr lang="en-US" sz="1350" dirty="0"/>
          </a:p>
        </p:txBody>
      </p:sp>
      <p:pic>
        <p:nvPicPr>
          <p:cNvPr id="5" name="Image 0" descr="/Users/vincenzocoia/1-projects-git/rainonsnow/presentations/2026-09-15-esa/figs/marginal-by-mixing.png">    </p:cNvPr>
          <p:cNvPicPr>
            <a:picLocks noChangeAspect="1"/>
          </p:cNvPicPr>
          <p:nvPr/>
        </p:nvPicPr>
        <p:blipFill>
          <a:blip r:embed="rId1"/>
          <a:stretch>
            <a:fillRect/>
          </a:stretch>
        </p:blipFill>
        <p:spPr>
          <a:xfrm>
            <a:off x="411480" y="1481328"/>
            <a:ext cx="5074920" cy="2328493"/>
          </a:xfrm>
          <a:prstGeom prst="rect">
            <a:avLst/>
          </a:prstGeom>
        </p:spPr>
      </p:pic>
      <p:sp>
        <p:nvSpPr>
          <p:cNvPr id="6" name="Text 3"/>
          <p:cNvSpPr txBox="1"/>
          <p:nvPr/>
        </p:nvSpPr>
        <p:spPr>
          <a:xfrm>
            <a:off x="5669280" y="1481328"/>
            <a:ext cx="3017520" cy="2743200"/>
          </a:xfrm>
          <a:prstGeom prst="rect">
            <a:avLst/>
          </a:prstGeom>
          <a:noFill/>
          <a:ln/>
        </p:spPr>
        <p:txBody>
          <a:bodyPr wrap="square" lIns="0" tIns="0" rIns="0" bIns="0" rtlCol="0" anchor="t"/>
          <a:lstStyle/>
          <a:p>
            <a:pPr algn="l" indent="0" marL="0">
              <a:spcAft>
                <a:spcPts val="600"/>
              </a:spcAft>
              <a:buNone/>
            </a:pPr>
            <a:r>
              <a:rPr lang="en-US" sz="1500" b="1" dirty="0">
                <a:solidFill>
                  <a:srgbClr val="1F5673"/>
                </a:solidFill>
                <a:latin typeface="Calibri" pitchFamily="34" charset="0"/>
                <a:ea typeface="Calibri" pitchFamily="34" charset="-122"/>
                <a:cs typeface="Calibri" pitchFamily="34" charset="-120"/>
              </a:rPr>
              <a:t>(i)  The maximum of noise</a:t>
            </a:r>
            <a:endParaRPr lang="en-US" sz="1500" dirty="0"/>
          </a:p>
          <a:p>
            <a:pPr algn="l" indent="0" marL="0">
              <a:spcAft>
                <a:spcPts val="600"/>
              </a:spcAft>
              <a:buNone/>
            </a:pPr>
            <a:r>
              <a:rPr lang="en-US" sz="1350" dirty="0">
                <a:solidFill>
                  <a:srgbClr val="16333F"/>
                </a:solidFill>
                <a:latin typeface="Calibri" pitchFamily="34" charset="0"/>
                <a:ea typeface="Calibri" pitchFamily="34" charset="-122"/>
                <a:cs typeface="Calibri" pitchFamily="34" charset="-120"/>
              </a:rPr>
              <a:t>The mixture's tail index is the largest tail index among the conditionals: the maximum of a set of noisy estimates.</a:t>
            </a:r>
            <a:endParaRPr lang="en-US" sz="1500" dirty="0"/>
          </a:p>
          <a:p>
            <a:pPr algn="l" indent="0" marL="0">
              <a:spcAft>
                <a:spcPts val="600"/>
              </a:spcAft>
              <a:buNone/>
            </a:pPr>
            <a:r>
              <a:rPr lang="en-US" sz="1500" b="1" dirty="0">
                <a:solidFill>
                  <a:srgbClr val="1F5673"/>
                </a:solidFill>
                <a:latin typeface="Calibri" pitchFamily="34" charset="0"/>
                <a:ea typeface="Calibri" pitchFamily="34" charset="-122"/>
                <a:cs typeface="Calibri" pitchFamily="34" charset="-120"/>
              </a:rPr>
              <a:t>(ii)  The jump needs extrapolation</a:t>
            </a:r>
            <a:endParaRPr lang="en-US" sz="1500" dirty="0"/>
          </a:p>
          <a:p>
            <a:pPr algn="l" indent="0" marL="0">
              <a:spcAft>
                <a:spcPts val="600"/>
              </a:spcAft>
              <a:buNone/>
            </a:pPr>
            <a:r>
              <a:rPr lang="en-US" sz="1350" dirty="0">
                <a:solidFill>
                  <a:srgbClr val="16333F"/>
                </a:solidFill>
                <a:latin typeface="Calibri" pitchFamily="34" charset="0"/>
                <a:ea typeface="Calibri" pitchFamily="34" charset="-122"/>
                <a:cs typeface="Calibri" pitchFamily="34" charset="-120"/>
              </a:rPr>
              <a:t>The marginal EVI is often strictly larger than every conditional EVI. Reaching it takes predictions far out in predictor space, and machine learning cannot go there.</a:t>
            </a:r>
            <a:endParaRPr lang="en-US" sz="1500" dirty="0"/>
          </a:p>
        </p:txBody>
      </p:sp>
      <p:sp>
        <p:nvSpPr>
          <p:cNvPr id="7" name="Shape 4"/>
          <p:cNvSpPr/>
          <p:nvPr/>
        </p:nvSpPr>
        <p:spPr>
          <a:xfrm>
            <a:off x="457200" y="4160520"/>
            <a:ext cx="8229600" cy="566928"/>
          </a:xfrm>
          <a:prstGeom prst="rect">
            <a:avLst/>
          </a:prstGeom>
          <a:solidFill>
            <a:srgbClr val="F6E3DC"/>
          </a:solidFill>
          <a:ln w="12700">
            <a:solidFill>
              <a:srgbClr val="F6E3DC"/>
            </a:solidFill>
            <a:prstDash val="solid"/>
          </a:ln>
        </p:spPr>
      </p:sp>
      <p:sp>
        <p:nvSpPr>
          <p:cNvPr id="8" name="Text 5"/>
          <p:cNvSpPr txBox="1"/>
          <p:nvPr/>
        </p:nvSpPr>
        <p:spPr>
          <a:xfrm>
            <a:off x="713232" y="4160520"/>
            <a:ext cx="7717536" cy="566928"/>
          </a:xfrm>
          <a:prstGeom prst="rect">
            <a:avLst/>
          </a:prstGeom>
          <a:noFill/>
          <a:ln/>
        </p:spPr>
        <p:txBody>
          <a:bodyPr wrap="square" lIns="0" tIns="0" rIns="0" bIns="0" rtlCol="0" anchor="ctr"/>
          <a:lstStyle/>
          <a:p>
            <a:pPr algn="l" indent="0" marL="0">
              <a:buNone/>
            </a:pPr>
            <a:r>
              <a:rPr lang="en-US" sz="1700" b="1" dirty="0">
                <a:solidFill>
                  <a:srgbClr val="C1440E"/>
                </a:solidFill>
                <a:latin typeface="Cambria" pitchFamily="34" charset="0"/>
                <a:ea typeface="Cambria" pitchFamily="34" charset="-122"/>
                <a:cs typeface="Cambria" pitchFamily="34" charset="-120"/>
              </a:rPr>
              <a:t>Learning stops at the data.</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DISTRIBUTIONAL LEARNING</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Challenge 2: copula transport</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Like peaks-over-threshold: the copula carries learned distributions beyond the predictor space.</a:t>
            </a:r>
            <a:endParaRPr lang="en-US" sz="1350" dirty="0"/>
          </a:p>
        </p:txBody>
      </p:sp>
      <p:pic>
        <p:nvPicPr>
          <p:cNvPr id="5" name="Image 0" descr="/Users/vincenzocoia/1-projects-git/rainonsnow/presentations/2026-09-15-esa/figs/copula-transport.png">    </p:cNvPr>
          <p:cNvPicPr>
            <a:picLocks noChangeAspect="1"/>
          </p:cNvPicPr>
          <p:nvPr/>
        </p:nvPicPr>
        <p:blipFill>
          <a:blip r:embed="rId1"/>
          <a:stretch>
            <a:fillRect/>
          </a:stretch>
        </p:blipFill>
        <p:spPr>
          <a:xfrm>
            <a:off x="996696" y="1353312"/>
            <a:ext cx="7159752" cy="3109378"/>
          </a:xfrm>
          <a:prstGeom prst="rect">
            <a:avLst/>
          </a:prstGeom>
        </p:spPr>
      </p:pic>
      <p:sp>
        <p:nvSpPr>
          <p:cNvPr id="6" name="Text 3"/>
          <p:cNvSpPr txBox="1"/>
          <p:nvPr/>
        </p:nvSpPr>
        <p:spPr>
          <a:xfrm>
            <a:off x="457200" y="4526280"/>
            <a:ext cx="8229600" cy="502920"/>
          </a:xfrm>
          <a:prstGeom prst="rect">
            <a:avLst/>
          </a:prstGeom>
          <a:noFill/>
          <a:ln/>
        </p:spPr>
        <p:txBody>
          <a:bodyPr wrap="square" lIns="0" tIns="0" rIns="0" bIns="0" rtlCol="0" anchor="t"/>
          <a:lstStyle/>
          <a:p>
            <a:pPr algn="l" indent="0" marL="0">
              <a:buNone/>
            </a:pPr>
            <a:r>
              <a:rPr lang="en-US" sz="1400" i="1" dirty="0">
                <a:solidFill>
                  <a:srgbClr val="C1440E"/>
                </a:solidFill>
                <a:latin typeface="Calibri" pitchFamily="34" charset="0"/>
                <a:ea typeface="Calibri" pitchFamily="34" charset="-122"/>
                <a:cs typeface="Calibri" pitchFamily="34" charset="-120"/>
              </a:rPr>
              <a:t>Left: it reproduces a conditional we can check. Right: transports pushed past the data.  </a:t>
            </a:r>
            <a:pPr algn="l" indent="0" marL="0">
              <a:buNone/>
            </a:pPr>
            <a:r>
              <a:rPr lang="en-US" sz="1400" b="1" i="1" dirty="0">
                <a:solidFill>
                  <a:srgbClr val="C1440E"/>
                </a:solidFill>
                <a:latin typeface="Calibri" pitchFamily="34" charset="0"/>
                <a:ea typeface="Calibri" pitchFamily="34" charset="-122"/>
                <a:cs typeface="Calibri" pitchFamily="34" charset="-120"/>
              </a:rPr>
              <a:t>Still open: when does it give favourable estimates?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STATISTICAL DEVELOPMENTS</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Three papers</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One for each piece of the method, at different stages.</a:t>
            </a:r>
            <a:endParaRPr lang="en-US" sz="1350" dirty="0"/>
          </a:p>
        </p:txBody>
      </p:sp>
      <p:sp>
        <p:nvSpPr>
          <p:cNvPr id="5" name="Shape 3"/>
          <p:cNvSpPr/>
          <p:nvPr/>
        </p:nvSpPr>
        <p:spPr>
          <a:xfrm>
            <a:off x="457200" y="1481328"/>
            <a:ext cx="2596896" cy="3401568"/>
          </a:xfrm>
          <a:prstGeom prst="rect">
            <a:avLst/>
          </a:prstGeom>
          <a:solidFill>
            <a:srgbClr val="EDF2F5"/>
          </a:solidFill>
          <a:ln w="12700">
            <a:solidFill>
              <a:srgbClr val="EDF2F5"/>
            </a:solidFill>
            <a:prstDash val="solid"/>
          </a:ln>
        </p:spPr>
      </p:sp>
      <p:sp>
        <p:nvSpPr>
          <p:cNvPr id="6" name="Shape 4"/>
          <p:cNvSpPr/>
          <p:nvPr/>
        </p:nvSpPr>
        <p:spPr>
          <a:xfrm>
            <a:off x="685800" y="1691640"/>
            <a:ext cx="1143000" cy="256032"/>
          </a:xfrm>
          <a:prstGeom prst="roundRect">
            <a:avLst>
              <a:gd name="adj" fmla="val 50000"/>
            </a:avLst>
          </a:prstGeom>
          <a:solidFill>
            <a:srgbClr val="16333F"/>
          </a:solidFill>
          <a:ln w="12700">
            <a:solidFill>
              <a:srgbClr val="16333F"/>
            </a:solidFill>
            <a:prstDash val="solid"/>
          </a:ln>
        </p:spPr>
      </p:sp>
      <p:sp>
        <p:nvSpPr>
          <p:cNvPr id="7" name="Text 5"/>
          <p:cNvSpPr txBox="1"/>
          <p:nvPr/>
        </p:nvSpPr>
        <p:spPr>
          <a:xfrm>
            <a:off x="685800" y="1691640"/>
            <a:ext cx="114300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Nearly ready</a:t>
            </a:r>
            <a:endParaRPr lang="en-US" sz="1050" dirty="0"/>
          </a:p>
        </p:txBody>
      </p:sp>
      <p:sp>
        <p:nvSpPr>
          <p:cNvPr id="8" name="Text 6"/>
          <p:cNvSpPr txBox="1"/>
          <p:nvPr/>
        </p:nvSpPr>
        <p:spPr>
          <a:xfrm>
            <a:off x="685800" y="2103120"/>
            <a:ext cx="2194560" cy="457200"/>
          </a:xfrm>
          <a:prstGeom prst="rect">
            <a:avLst/>
          </a:prstGeom>
          <a:noFill/>
          <a:ln/>
        </p:spPr>
        <p:txBody>
          <a:bodyPr wrap="square" lIns="0" tIns="0" rIns="0" bIns="0" rtlCol="0" anchor="t"/>
          <a:lstStyle/>
          <a:p>
            <a:pPr algn="l" indent="0" marL="0">
              <a:buNone/>
            </a:pPr>
            <a:r>
              <a:rPr lang="en-US" sz="1600" b="1" dirty="0">
                <a:solidFill>
                  <a:srgbClr val="16333F"/>
                </a:solidFill>
                <a:latin typeface="Cambria" pitchFamily="34" charset="0"/>
                <a:ea typeface="Cambria" pitchFamily="34" charset="-122"/>
                <a:cs typeface="Cambria" pitchFamily="34" charset="-120"/>
              </a:rPr>
              <a:t>Smooth graft</a:t>
            </a:r>
            <a:endParaRPr lang="en-US" sz="1600" dirty="0"/>
          </a:p>
        </p:txBody>
      </p:sp>
      <p:sp>
        <p:nvSpPr>
          <p:cNvPr id="9" name="Text 7"/>
          <p:cNvSpPr txBox="1"/>
          <p:nvPr/>
        </p:nvSpPr>
        <p:spPr>
          <a:xfrm>
            <a:off x="685800" y="2651760"/>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Purpose</a:t>
            </a:r>
            <a:endParaRPr lang="en-US" sz="1100" dirty="0"/>
          </a:p>
        </p:txBody>
      </p:sp>
      <p:sp>
        <p:nvSpPr>
          <p:cNvPr id="10" name="Text 8"/>
          <p:cNvSpPr txBox="1"/>
          <p:nvPr/>
        </p:nvSpPr>
        <p:spPr>
          <a:xfrm>
            <a:off x="685800" y="2889504"/>
            <a:ext cx="2139696" cy="685800"/>
          </a:xfrm>
          <a:prstGeom prst="rect">
            <a:avLst/>
          </a:prstGeom>
          <a:noFill/>
          <a:ln/>
        </p:spPr>
        <p:txBody>
          <a:bodyPr wrap="square" lIns="0" tIns="0" rIns="0" bIns="0" rtlCol="0" anchor="t"/>
          <a:lstStyle/>
          <a:p>
            <a:pPr algn="l" indent="0" marL="0">
              <a:buNone/>
            </a:pPr>
            <a:r>
              <a:rPr lang="en-US" sz="1400" dirty="0">
                <a:solidFill>
                  <a:srgbClr val="16333F"/>
                </a:solidFill>
                <a:latin typeface="Calibri" pitchFamily="34" charset="0"/>
                <a:ea typeface="Calibri" pitchFamily="34" charset="-122"/>
                <a:cs typeface="Calibri" pitchFamily="34" charset="-120"/>
              </a:rPr>
              <a:t>When and how to hand off to a tail model.</a:t>
            </a:r>
            <a:endParaRPr lang="en-US" sz="1400" dirty="0"/>
          </a:p>
        </p:txBody>
      </p:sp>
      <p:sp>
        <p:nvSpPr>
          <p:cNvPr id="11" name="Text 9"/>
          <p:cNvSpPr txBox="1"/>
          <p:nvPr/>
        </p:nvSpPr>
        <p:spPr>
          <a:xfrm>
            <a:off x="685800" y="3639312"/>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Status</a:t>
            </a:r>
            <a:endParaRPr lang="en-US" sz="1100" dirty="0"/>
          </a:p>
        </p:txBody>
      </p:sp>
      <p:sp>
        <p:nvSpPr>
          <p:cNvPr id="12" name="Text 10"/>
          <p:cNvSpPr txBox="1"/>
          <p:nvPr/>
        </p:nvSpPr>
        <p:spPr>
          <a:xfrm>
            <a:off x="685800" y="3877056"/>
            <a:ext cx="2139696" cy="868680"/>
          </a:xfrm>
          <a:prstGeom prst="rect">
            <a:avLst/>
          </a:prstGeom>
          <a:noFill/>
          <a:ln/>
        </p:spPr>
        <p:txBody>
          <a:bodyPr wrap="square" lIns="0" tIns="0" rIns="0" bIns="0" rtlCol="0" anchor="t"/>
          <a:lstStyle/>
          <a:p>
            <a:pPr algn="l" indent="0" marL="0">
              <a:buNone/>
            </a:pPr>
            <a:r>
              <a:rPr lang="en-US" sz="1350" dirty="0">
                <a:solidFill>
                  <a:srgbClr val="16333F"/>
                </a:solidFill>
                <a:latin typeface="Calibri" pitchFamily="34" charset="0"/>
                <a:ea typeface="Calibri" pitchFamily="34" charset="-122"/>
                <a:cs typeface="Calibri" pitchFamily="34" charset="-120"/>
              </a:rPr>
              <a:t>Loose ends in the simulation section, then ready for final review.</a:t>
            </a:r>
            <a:endParaRPr lang="en-US" sz="1350" dirty="0"/>
          </a:p>
        </p:txBody>
      </p:sp>
      <p:sp>
        <p:nvSpPr>
          <p:cNvPr id="13" name="Shape 11"/>
          <p:cNvSpPr/>
          <p:nvPr/>
        </p:nvSpPr>
        <p:spPr>
          <a:xfrm>
            <a:off x="3273552" y="1481328"/>
            <a:ext cx="2596896" cy="3401568"/>
          </a:xfrm>
          <a:prstGeom prst="rect">
            <a:avLst/>
          </a:prstGeom>
          <a:solidFill>
            <a:srgbClr val="EDF2F5"/>
          </a:solidFill>
          <a:ln w="12700">
            <a:solidFill>
              <a:srgbClr val="EDF2F5"/>
            </a:solidFill>
            <a:prstDash val="solid"/>
          </a:ln>
        </p:spPr>
      </p:sp>
      <p:sp>
        <p:nvSpPr>
          <p:cNvPr id="14" name="Shape 12"/>
          <p:cNvSpPr/>
          <p:nvPr/>
        </p:nvSpPr>
        <p:spPr>
          <a:xfrm>
            <a:off x="3502152" y="1691640"/>
            <a:ext cx="1143000" cy="256032"/>
          </a:xfrm>
          <a:prstGeom prst="roundRect">
            <a:avLst>
              <a:gd name="adj" fmla="val 50000"/>
            </a:avLst>
          </a:prstGeom>
          <a:solidFill>
            <a:srgbClr val="1F5673"/>
          </a:solidFill>
          <a:ln w="12700">
            <a:solidFill>
              <a:srgbClr val="1F5673"/>
            </a:solidFill>
            <a:prstDash val="solid"/>
          </a:ln>
        </p:spPr>
      </p:sp>
      <p:sp>
        <p:nvSpPr>
          <p:cNvPr id="15" name="Text 13"/>
          <p:cNvSpPr txBox="1"/>
          <p:nvPr/>
        </p:nvSpPr>
        <p:spPr>
          <a:xfrm>
            <a:off x="3502152" y="1691640"/>
            <a:ext cx="114300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Drafting</a:t>
            </a:r>
            <a:endParaRPr lang="en-US" sz="1050" dirty="0"/>
          </a:p>
        </p:txBody>
      </p:sp>
      <p:sp>
        <p:nvSpPr>
          <p:cNvPr id="16" name="Text 14"/>
          <p:cNvSpPr txBox="1"/>
          <p:nvPr/>
        </p:nvSpPr>
        <p:spPr>
          <a:xfrm>
            <a:off x="3502152" y="2103120"/>
            <a:ext cx="2194560" cy="457200"/>
          </a:xfrm>
          <a:prstGeom prst="rect">
            <a:avLst/>
          </a:prstGeom>
          <a:noFill/>
          <a:ln/>
        </p:spPr>
        <p:txBody>
          <a:bodyPr wrap="square" lIns="0" tIns="0" rIns="0" bIns="0" rtlCol="0" anchor="t"/>
          <a:lstStyle/>
          <a:p>
            <a:pPr algn="l" indent="0" marL="0">
              <a:buNone/>
            </a:pPr>
            <a:r>
              <a:rPr lang="en-US" sz="1600" b="1" dirty="0">
                <a:solidFill>
                  <a:srgbClr val="16333F"/>
                </a:solidFill>
                <a:latin typeface="Cambria" pitchFamily="34" charset="0"/>
                <a:ea typeface="Cambria" pitchFamily="34" charset="-122"/>
                <a:cs typeface="Cambria" pitchFamily="34" charset="-120"/>
              </a:rPr>
              <a:t>Composite estimation</a:t>
            </a:r>
            <a:endParaRPr lang="en-US" sz="1600" dirty="0"/>
          </a:p>
        </p:txBody>
      </p:sp>
      <p:sp>
        <p:nvSpPr>
          <p:cNvPr id="17" name="Text 15"/>
          <p:cNvSpPr txBox="1"/>
          <p:nvPr/>
        </p:nvSpPr>
        <p:spPr>
          <a:xfrm>
            <a:off x="3502152" y="2651760"/>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Purpose</a:t>
            </a:r>
            <a:endParaRPr lang="en-US" sz="1100" dirty="0"/>
          </a:p>
        </p:txBody>
      </p:sp>
      <p:sp>
        <p:nvSpPr>
          <p:cNvPr id="18" name="Text 16"/>
          <p:cNvSpPr txBox="1"/>
          <p:nvPr/>
        </p:nvSpPr>
        <p:spPr>
          <a:xfrm>
            <a:off x="3502152" y="2889504"/>
            <a:ext cx="2139696" cy="685800"/>
          </a:xfrm>
          <a:prstGeom prst="rect">
            <a:avLst/>
          </a:prstGeom>
          <a:noFill/>
          <a:ln/>
        </p:spPr>
        <p:txBody>
          <a:bodyPr wrap="square" lIns="0" tIns="0" rIns="0" bIns="0" rtlCol="0" anchor="t"/>
          <a:lstStyle/>
          <a:p>
            <a:pPr algn="l" indent="0" marL="0">
              <a:buNone/>
            </a:pPr>
            <a:r>
              <a:rPr lang="en-US" sz="1400" dirty="0">
                <a:solidFill>
                  <a:srgbClr val="16333F"/>
                </a:solidFill>
                <a:latin typeface="Calibri" pitchFamily="34" charset="0"/>
                <a:ea typeface="Calibri" pitchFamily="34" charset="-122"/>
                <a:cs typeface="Calibri" pitchFamily="34" charset="-120"/>
              </a:rPr>
              <a:t>Improved tail estimation.</a:t>
            </a:r>
            <a:endParaRPr lang="en-US" sz="1400" dirty="0"/>
          </a:p>
        </p:txBody>
      </p:sp>
      <p:sp>
        <p:nvSpPr>
          <p:cNvPr id="19" name="Text 17"/>
          <p:cNvSpPr txBox="1"/>
          <p:nvPr/>
        </p:nvSpPr>
        <p:spPr>
          <a:xfrm>
            <a:off x="3502152" y="3639312"/>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Status</a:t>
            </a:r>
            <a:endParaRPr lang="en-US" sz="1100" dirty="0"/>
          </a:p>
        </p:txBody>
      </p:sp>
      <p:sp>
        <p:nvSpPr>
          <p:cNvPr id="20" name="Text 18"/>
          <p:cNvSpPr txBox="1"/>
          <p:nvPr/>
        </p:nvSpPr>
        <p:spPr>
          <a:xfrm>
            <a:off x="3502152" y="3877056"/>
            <a:ext cx="2139696" cy="868680"/>
          </a:xfrm>
          <a:prstGeom prst="rect">
            <a:avLst/>
          </a:prstGeom>
          <a:noFill/>
          <a:ln/>
        </p:spPr>
        <p:txBody>
          <a:bodyPr wrap="square" lIns="0" tIns="0" rIns="0" bIns="0" rtlCol="0" anchor="t"/>
          <a:lstStyle/>
          <a:p>
            <a:pPr algn="l" indent="0" marL="0">
              <a:buNone/>
            </a:pPr>
            <a:r>
              <a:rPr lang="en-US" sz="1350" dirty="0">
                <a:solidFill>
                  <a:srgbClr val="16333F"/>
                </a:solidFill>
                <a:latin typeface="Calibri" pitchFamily="34" charset="0"/>
                <a:ea typeface="Calibri" pitchFamily="34" charset="-122"/>
                <a:cs typeface="Calibri" pitchFamily="34" charset="-120"/>
              </a:rPr>
              <a:t>The bones are in place, and a compelling simulation study is already there.</a:t>
            </a:r>
            <a:endParaRPr lang="en-US" sz="1350" dirty="0"/>
          </a:p>
        </p:txBody>
      </p:sp>
      <p:sp>
        <p:nvSpPr>
          <p:cNvPr id="21" name="Shape 19"/>
          <p:cNvSpPr/>
          <p:nvPr/>
        </p:nvSpPr>
        <p:spPr>
          <a:xfrm>
            <a:off x="6089904" y="1481328"/>
            <a:ext cx="2596896" cy="3401568"/>
          </a:xfrm>
          <a:prstGeom prst="rect">
            <a:avLst/>
          </a:prstGeom>
          <a:solidFill>
            <a:srgbClr val="F6E3DC"/>
          </a:solidFill>
          <a:ln w="12700">
            <a:solidFill>
              <a:srgbClr val="F6E3DC"/>
            </a:solidFill>
            <a:prstDash val="solid"/>
          </a:ln>
        </p:spPr>
      </p:sp>
      <p:sp>
        <p:nvSpPr>
          <p:cNvPr id="22" name="Shape 20"/>
          <p:cNvSpPr/>
          <p:nvPr/>
        </p:nvSpPr>
        <p:spPr>
          <a:xfrm>
            <a:off x="6318504" y="1691640"/>
            <a:ext cx="1143000" cy="256032"/>
          </a:xfrm>
          <a:prstGeom prst="roundRect">
            <a:avLst>
              <a:gd name="adj" fmla="val 50000"/>
            </a:avLst>
          </a:prstGeom>
          <a:solidFill>
            <a:srgbClr val="C1440E"/>
          </a:solidFill>
          <a:ln w="12700">
            <a:solidFill>
              <a:srgbClr val="C1440E"/>
            </a:solidFill>
            <a:prstDash val="solid"/>
          </a:ln>
        </p:spPr>
      </p:sp>
      <p:sp>
        <p:nvSpPr>
          <p:cNvPr id="23" name="Text 21"/>
          <p:cNvSpPr txBox="1"/>
          <p:nvPr/>
        </p:nvSpPr>
        <p:spPr>
          <a:xfrm>
            <a:off x="6318504" y="1691640"/>
            <a:ext cx="114300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Inception</a:t>
            </a:r>
            <a:endParaRPr lang="en-US" sz="1050" dirty="0"/>
          </a:p>
        </p:txBody>
      </p:sp>
      <p:sp>
        <p:nvSpPr>
          <p:cNvPr id="24" name="Text 22"/>
          <p:cNvSpPr txBox="1"/>
          <p:nvPr/>
        </p:nvSpPr>
        <p:spPr>
          <a:xfrm>
            <a:off x="6318504" y="2103120"/>
            <a:ext cx="2194560" cy="457200"/>
          </a:xfrm>
          <a:prstGeom prst="rect">
            <a:avLst/>
          </a:prstGeom>
          <a:noFill/>
          <a:ln/>
        </p:spPr>
        <p:txBody>
          <a:bodyPr wrap="square" lIns="0" tIns="0" rIns="0" bIns="0" rtlCol="0" anchor="t"/>
          <a:lstStyle/>
          <a:p>
            <a:pPr algn="l" indent="0" marL="0">
              <a:buNone/>
            </a:pPr>
            <a:r>
              <a:rPr lang="en-US" sz="1600" b="1" dirty="0">
                <a:solidFill>
                  <a:srgbClr val="16333F"/>
                </a:solidFill>
                <a:latin typeface="Cambria" pitchFamily="34" charset="0"/>
                <a:ea typeface="Cambria" pitchFamily="34" charset="-122"/>
                <a:cs typeface="Cambria" pitchFamily="34" charset="-120"/>
              </a:rPr>
              <a:t>Copula transport</a:t>
            </a:r>
            <a:endParaRPr lang="en-US" sz="1600" dirty="0"/>
          </a:p>
        </p:txBody>
      </p:sp>
      <p:sp>
        <p:nvSpPr>
          <p:cNvPr id="25" name="Text 23"/>
          <p:cNvSpPr txBox="1"/>
          <p:nvPr/>
        </p:nvSpPr>
        <p:spPr>
          <a:xfrm>
            <a:off x="6318504" y="2651760"/>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Purpose</a:t>
            </a:r>
            <a:endParaRPr lang="en-US" sz="1100" dirty="0"/>
          </a:p>
        </p:txBody>
      </p:sp>
      <p:sp>
        <p:nvSpPr>
          <p:cNvPr id="26" name="Text 24"/>
          <p:cNvSpPr txBox="1"/>
          <p:nvPr/>
        </p:nvSpPr>
        <p:spPr>
          <a:xfrm>
            <a:off x="6318504" y="2889504"/>
            <a:ext cx="2139696" cy="685800"/>
          </a:xfrm>
          <a:prstGeom prst="rect">
            <a:avLst/>
          </a:prstGeom>
          <a:noFill/>
          <a:ln/>
        </p:spPr>
        <p:txBody>
          <a:bodyPr wrap="square" lIns="0" tIns="0" rIns="0" bIns="0" rtlCol="0" anchor="t"/>
          <a:lstStyle/>
          <a:p>
            <a:pPr algn="l" indent="0" marL="0">
              <a:buNone/>
            </a:pPr>
            <a:r>
              <a:rPr lang="en-US" sz="1400" dirty="0">
                <a:solidFill>
                  <a:srgbClr val="16333F"/>
                </a:solidFill>
                <a:latin typeface="Calibri" pitchFamily="34" charset="0"/>
                <a:ea typeface="Calibri" pitchFamily="34" charset="-122"/>
                <a:cs typeface="Calibri" pitchFamily="34" charset="-120"/>
              </a:rPr>
              <a:t>Extending learned distributions outside the hull of x.</a:t>
            </a:r>
            <a:endParaRPr lang="en-US" sz="1400" dirty="0"/>
          </a:p>
        </p:txBody>
      </p:sp>
      <p:sp>
        <p:nvSpPr>
          <p:cNvPr id="27" name="Text 25"/>
          <p:cNvSpPr txBox="1"/>
          <p:nvPr/>
        </p:nvSpPr>
        <p:spPr>
          <a:xfrm>
            <a:off x="6318504" y="3639312"/>
            <a:ext cx="2139696" cy="237744"/>
          </a:xfrm>
          <a:prstGeom prst="rect">
            <a:avLst/>
          </a:prstGeom>
          <a:noFill/>
          <a:ln/>
        </p:spPr>
        <p:txBody>
          <a:bodyPr wrap="square" lIns="0" tIns="0" rIns="0" bIns="0" rtlCol="0" anchor="t"/>
          <a:lstStyle/>
          <a:p>
            <a:pPr algn="l" indent="0" marL="0">
              <a:buNone/>
            </a:pPr>
            <a:r>
              <a:rPr lang="en-US" sz="1100" b="1" dirty="0">
                <a:solidFill>
                  <a:srgbClr val="1F5673"/>
                </a:solidFill>
                <a:latin typeface="Calibri" pitchFamily="34" charset="0"/>
                <a:ea typeface="Calibri" pitchFamily="34" charset="-122"/>
                <a:cs typeface="Calibri" pitchFamily="34" charset="-120"/>
              </a:rPr>
              <a:t>Status</a:t>
            </a:r>
            <a:endParaRPr lang="en-US" sz="1100" dirty="0"/>
          </a:p>
        </p:txBody>
      </p:sp>
      <p:sp>
        <p:nvSpPr>
          <p:cNvPr id="28" name="Text 26"/>
          <p:cNvSpPr txBox="1"/>
          <p:nvPr/>
        </p:nvSpPr>
        <p:spPr>
          <a:xfrm>
            <a:off x="6318504" y="3877056"/>
            <a:ext cx="2139696" cy="868680"/>
          </a:xfrm>
          <a:prstGeom prst="rect">
            <a:avLst/>
          </a:prstGeom>
          <a:noFill/>
          <a:ln/>
        </p:spPr>
        <p:txBody>
          <a:bodyPr wrap="square" lIns="0" tIns="0" rIns="0" bIns="0" rtlCol="0" anchor="t"/>
          <a:lstStyle/>
          <a:p>
            <a:pPr algn="l" indent="0" marL="0">
              <a:buNone/>
            </a:pPr>
            <a:r>
              <a:rPr lang="en-US" sz="1350" dirty="0">
                <a:solidFill>
                  <a:srgbClr val="16333F"/>
                </a:solidFill>
                <a:latin typeface="Calibri" pitchFamily="34" charset="0"/>
                <a:ea typeface="Calibri" pitchFamily="34" charset="-122"/>
                <a:cs typeface="Calibri" pitchFamily="34" charset="-120"/>
              </a:rPr>
              <a:t>Inception. The need for it has been clearly demonstrated.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8229600" cy="219456"/>
          </a:xfrm>
          <a:prstGeom prst="rect">
            <a:avLst/>
          </a:prstGeom>
          <a:noFill/>
          <a:ln/>
        </p:spPr>
        <p:txBody>
          <a:bodyPr wrap="square" lIns="0" tIns="0" rIns="0" bIns="0" rtlCol="0" anchor="t"/>
          <a:lstStyle/>
          <a:p>
            <a:pPr algn="l" indent="0" marL="0">
              <a:buNone/>
            </a:pPr>
            <a:r>
              <a:rPr lang="en-US" sz="1100" b="1" dirty="0">
                <a:solidFill>
                  <a:srgbClr val="C1440E"/>
                </a:solidFill>
                <a:latin typeface="Calibri" pitchFamily="34" charset="0"/>
                <a:ea typeface="Calibri" pitchFamily="34" charset="-122"/>
                <a:cs typeface="Calibri" pitchFamily="34" charset="-120"/>
              </a:rPr>
              <a:t>PROJECT PLAN</a:t>
            </a:r>
            <a:endParaRPr lang="en-US" sz="1100" dirty="0"/>
          </a:p>
        </p:txBody>
      </p:sp>
      <p:sp>
        <p:nvSpPr>
          <p:cNvPr id="3" name="Text 1"/>
          <p:cNvSpPr txBox="1"/>
          <p:nvPr/>
        </p:nvSpPr>
        <p:spPr>
          <a:xfrm>
            <a:off x="457200" y="475488"/>
            <a:ext cx="8229600" cy="512064"/>
          </a:xfrm>
          <a:prstGeom prst="rect">
            <a:avLst/>
          </a:prstGeom>
          <a:noFill/>
          <a:ln/>
        </p:spPr>
        <p:txBody>
          <a:bodyPr wrap="square" lIns="0" tIns="0" rIns="0" bIns="0" rtlCol="0" anchor="t"/>
          <a:lstStyle/>
          <a:p>
            <a:pPr algn="l" indent="0" marL="0">
              <a:buNone/>
            </a:pPr>
            <a:r>
              <a:rPr lang="en-US" sz="2800" b="1" dirty="0">
                <a:solidFill>
                  <a:srgbClr val="16333F"/>
                </a:solidFill>
                <a:latin typeface="Cambria" pitchFamily="34" charset="0"/>
                <a:ea typeface="Cambria" pitchFamily="34" charset="-122"/>
                <a:cs typeface="Cambria" pitchFamily="34" charset="-120"/>
              </a:rPr>
              <a:t>One year in, and on track</a:t>
            </a:r>
            <a:endParaRPr lang="en-US" sz="2800" dirty="0"/>
          </a:p>
        </p:txBody>
      </p:sp>
      <p:sp>
        <p:nvSpPr>
          <p:cNvPr id="4" name="Text 2"/>
          <p:cNvSpPr txBox="1"/>
          <p:nvPr/>
        </p:nvSpPr>
        <p:spPr>
          <a:xfrm>
            <a:off x="457200" y="1014984"/>
            <a:ext cx="8229600" cy="274320"/>
          </a:xfrm>
          <a:prstGeom prst="rect">
            <a:avLst/>
          </a:prstGeom>
          <a:noFill/>
          <a:ln/>
        </p:spPr>
        <p:txBody>
          <a:bodyPr wrap="square" lIns="0" tIns="0" rIns="0" bIns="0" rtlCol="0" anchor="t"/>
          <a:lstStyle/>
          <a:p>
            <a:pPr algn="l" indent="0" marL="0">
              <a:buNone/>
            </a:pPr>
            <a:r>
              <a:rPr lang="en-US" sz="1350" dirty="0">
                <a:solidFill>
                  <a:srgbClr val="5A6A72"/>
                </a:solidFill>
                <a:latin typeface="Calibri" pitchFamily="34" charset="0"/>
                <a:ea typeface="Calibri" pitchFamily="34" charset="-122"/>
                <a:cs typeface="Calibri" pitchFamily="34" charset="-120"/>
              </a:rPr>
              <a:t>Phase 2 iterates between statistical development and data, for process insight.</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713232"/>
                <a:gridCol w="274320"/>
                <a:gridCol w="1188720"/>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gridCol w="252222"/>
              </a:tblGrid>
              <a:tr h="219456">
                <a:tc rowSpan="2" gridSpan="3">
                  <a:txBody>
                    <a:bodyPr/>
                    <a:lstStyle/>
                    <a:p>
                      <a:pPr algn="l" indent="0" marL="0">
                        <a:buNone/>
                      </a:pP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rowSpan="2" hMerge="1">
                  <a:tcPr/>
                </a:tc>
                <a:tc rowSpan="2" hMerge="1">
                  <a:tcPr/>
                </a:tc>
                <a:tc gridSpan="9">
                  <a:txBody>
                    <a:bodyPr/>
                    <a:lstStyle/>
                    <a:p>
                      <a:pPr algn="ctr" indent="0" marL="0">
                        <a:buNone/>
                      </a:pPr>
                      <a:r>
                        <a:rPr lang="en-US" sz="900" b="1" dirty="0">
                          <a:solidFill>
                            <a:srgbClr val="16333F"/>
                          </a:solidFill>
                          <a:latin typeface="Calibri" pitchFamily="34" charset="0"/>
                          <a:ea typeface="Calibri" pitchFamily="34" charset="-122"/>
                          <a:cs typeface="Calibri" pitchFamily="34" charset="-120"/>
                        </a:rPr>
                        <a:t>Phase 1: MVP + software</a:t>
                      </a:r>
                      <a:endParaRPr lang="en-US" sz="9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hMerge="1">
                  <a:tcPr/>
                </a:tc>
                <a:tc hMerge="1">
                  <a:tcPr/>
                </a:tc>
                <a:tc hMerge="1">
                  <a:tcPr/>
                </a:tc>
                <a:tc hMerge="1">
                  <a:tcPr/>
                </a:tc>
                <a:tc hMerge="1">
                  <a:tcPr/>
                </a:tc>
                <a:tc hMerge="1">
                  <a:tcPr/>
                </a:tc>
                <a:tc hMerge="1">
                  <a:tcPr/>
                </a:tc>
                <a:tc hMerge="1">
                  <a:tcPr/>
                </a:tc>
                <a:tc gridSpan="8">
                  <a:txBody>
                    <a:bodyPr/>
                    <a:lstStyle/>
                    <a:p>
                      <a:pPr algn="ctr" indent="0" marL="0">
                        <a:buNone/>
                      </a:pPr>
                      <a:r>
                        <a:rPr lang="en-US" sz="900" b="1" dirty="0">
                          <a:solidFill>
                            <a:srgbClr val="16333F"/>
                          </a:solidFill>
                          <a:latin typeface="Calibri" pitchFamily="34" charset="0"/>
                          <a:ea typeface="Calibri" pitchFamily="34" charset="-122"/>
                          <a:cs typeface="Calibri" pitchFamily="34" charset="-120"/>
                        </a:rPr>
                        <a:t>Phase 2: Iterative development</a:t>
                      </a:r>
                      <a:endParaRPr lang="en-US" sz="9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hMerge="1">
                  <a:tcPr/>
                </a:tc>
                <a:tc hMerge="1">
                  <a:tcPr/>
                </a:tc>
                <a:tc hMerge="1">
                  <a:tcPr/>
                </a:tc>
                <a:tc hMerge="1">
                  <a:tcPr/>
                </a:tc>
                <a:tc hMerge="1">
                  <a:tcPr/>
                </a:tc>
                <a:tc hMerge="1">
                  <a:tcPr/>
                </a:tc>
                <a:tc hMerge="1">
                  <a:tcPr/>
                </a:tc>
                <a:tc gridSpan="7">
                  <a:txBody>
                    <a:bodyPr/>
                    <a:lstStyle/>
                    <a:p>
                      <a:pPr algn="ctr" indent="0" marL="0">
                        <a:buNone/>
                      </a:pPr>
                      <a:r>
                        <a:rPr lang="en-US" sz="900" b="1" dirty="0">
                          <a:solidFill>
                            <a:srgbClr val="16333F"/>
                          </a:solidFill>
                          <a:latin typeface="Calibri" pitchFamily="34" charset="0"/>
                          <a:ea typeface="Calibri" pitchFamily="34" charset="-122"/>
                          <a:cs typeface="Calibri" pitchFamily="34" charset="-120"/>
                        </a:rPr>
                        <a:t>Phase 3: Climate change</a:t>
                      </a:r>
                      <a:endParaRPr lang="en-US" sz="9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hMerge="1">
                  <a:tcPr/>
                </a:tc>
                <a:tc hMerge="1">
                  <a:tcPr/>
                </a:tc>
                <a:tc hMerge="1">
                  <a:tcPr/>
                </a:tc>
                <a:tc hMerge="1">
                  <a:tcPr/>
                </a:tc>
                <a:tc hMerge="1">
                  <a:tcPr/>
                </a:tc>
                <a:tc hMerge="1">
                  <a:tcPr/>
                </a:tc>
              </a:tr>
              <a:tr h="182880">
                <a:tc gridSpan="3" vMerge="1">
                  <a:tcPr/>
                </a:tc>
                <a:tc vMerge="1" hMerge="1">
                  <a:tcPr/>
                </a:tc>
                <a:tc vMerge="1" hMerge="1">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15</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18</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19</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20</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22</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23</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700" dirty="0">
                          <a:solidFill>
                            <a:srgbClr val="5A6A72"/>
                          </a:solidFill>
                          <a:latin typeface="Calibri" pitchFamily="34" charset="0"/>
                          <a:ea typeface="Calibri" pitchFamily="34" charset="-122"/>
                          <a:cs typeface="Calibri" pitchFamily="34" charset="-120"/>
                        </a:rPr>
                        <a:t>24</a:t>
                      </a:r>
                      <a:endParaRPr lang="en-US" sz="7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r>
              <a:tr h="212141">
                <a:tc rowSpan="2">
                  <a:txBody>
                    <a:bodyPr/>
                    <a:lstStyle/>
                    <a:p>
                      <a:pPr algn="l" indent="0" marL="0">
                        <a:buNone/>
                      </a:pPr>
                      <a:r>
                        <a:rPr lang="en-US" sz="850" b="1" dirty="0">
                          <a:solidFill>
                            <a:srgbClr val="1F5673"/>
                          </a:solidFill>
                          <a:latin typeface="Calibri" pitchFamily="34" charset="0"/>
                          <a:ea typeface="Calibri" pitchFamily="34" charset="-122"/>
                          <a:cs typeface="Calibri" pitchFamily="34" charset="-120"/>
                        </a:rPr>
                        <a:t>Overhead</a:t>
                      </a:r>
                      <a:endParaRPr lang="en-US" sz="8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Project management</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r>
                        <a:rPr lang="en-US" sz="650" b="1" dirty="0">
                          <a:solidFill>
                            <a:srgbClr val="16333F"/>
                          </a:solidFill>
                          <a:latin typeface="Calibri" pitchFamily="34" charset="0"/>
                          <a:ea typeface="Calibri" pitchFamily="34" charset="-122"/>
                          <a:cs typeface="Calibri" pitchFamily="34" charset="-120"/>
                        </a:rPr>
                        <a:t>D1</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Community</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r>
              <a:tr h="212141">
                <a:tc rowSpan="2">
                  <a:txBody>
                    <a:bodyPr/>
                    <a:lstStyle/>
                    <a:p>
                      <a:pPr algn="l" indent="0" marL="0">
                        <a:buNone/>
                      </a:pPr>
                      <a:r>
                        <a:rPr lang="en-US" sz="850" b="1" dirty="0">
                          <a:solidFill>
                            <a:srgbClr val="1F5673"/>
                          </a:solidFill>
                          <a:latin typeface="Calibri" pitchFamily="34" charset="0"/>
                          <a:ea typeface="Calibri" pitchFamily="34" charset="-122"/>
                          <a:cs typeface="Calibri" pitchFamily="34" charset="-120"/>
                        </a:rPr>
                        <a:t>Data</a:t>
                      </a:r>
                      <a:endParaRPr lang="en-US" sz="8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2.1</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Data compilation</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2.2</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Event granularity</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rowSpan="3">
                  <a:txBody>
                    <a:bodyPr/>
                    <a:lstStyle/>
                    <a:p>
                      <a:pPr algn="l" indent="0" marL="0">
                        <a:buNone/>
                      </a:pPr>
                      <a:r>
                        <a:rPr lang="en-US" sz="850" b="1" dirty="0">
                          <a:solidFill>
                            <a:srgbClr val="1F5673"/>
                          </a:solidFill>
                          <a:latin typeface="Calibri" pitchFamily="34" charset="0"/>
                          <a:ea typeface="Calibri" pitchFamily="34" charset="-122"/>
                          <a:cs typeface="Calibri" pitchFamily="34" charset="-120"/>
                        </a:rPr>
                        <a:t>Modelling</a:t>
                      </a:r>
                      <a:endParaRPr lang="en-US" sz="8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3.1</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Min. viable model</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3.2</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Extremal learning</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Climate change</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rowSpan="3">
                  <a:txBody>
                    <a:bodyPr/>
                    <a:lstStyle/>
                    <a:p>
                      <a:pPr algn="l" indent="0" marL="0">
                        <a:buNone/>
                      </a:pPr>
                      <a:r>
                        <a:rPr lang="en-US" sz="850" b="1" dirty="0">
                          <a:solidFill>
                            <a:srgbClr val="1F5673"/>
                          </a:solidFill>
                          <a:latin typeface="Calibri" pitchFamily="34" charset="0"/>
                          <a:ea typeface="Calibri" pitchFamily="34" charset="-122"/>
                          <a:cs typeface="Calibri" pitchFamily="34" charset="-120"/>
                        </a:rPr>
                        <a:t>Outputs</a:t>
                      </a:r>
                      <a:endParaRPr lang="en-US" sz="8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4.1</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Software</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r>
                        <a:rPr lang="en-US" sz="650" b="1" dirty="0">
                          <a:solidFill>
                            <a:srgbClr val="FFFFFF"/>
                          </a:solidFill>
                          <a:latin typeface="Calibri" pitchFamily="34" charset="0"/>
                          <a:ea typeface="Calibri" pitchFamily="34" charset="-122"/>
                          <a:cs typeface="Calibri" pitchFamily="34" charset="-120"/>
                        </a:rPr>
                        <a:t>D6</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r>
                        <a:rPr lang="en-US" sz="650" b="1" dirty="0">
                          <a:solidFill>
                            <a:srgbClr val="FFFFFF"/>
                          </a:solidFill>
                          <a:latin typeface="Calibri" pitchFamily="34" charset="0"/>
                          <a:ea typeface="Calibri" pitchFamily="34" charset="-122"/>
                          <a:cs typeface="Calibri" pitchFamily="34" charset="-120"/>
                        </a:rPr>
                        <a:t>D6</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Flood map insights</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r>
                        <a:rPr lang="en-US" sz="650" b="1" dirty="0">
                          <a:solidFill>
                            <a:srgbClr val="FFFFFF"/>
                          </a:solidFill>
                          <a:latin typeface="Calibri" pitchFamily="34" charset="0"/>
                          <a:ea typeface="Calibri" pitchFamily="34" charset="-122"/>
                          <a:cs typeface="Calibri" pitchFamily="34" charset="-120"/>
                        </a:rPr>
                        <a:t>D3</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r>
                        <a:rPr lang="en-US" sz="650" b="1" dirty="0">
                          <a:solidFill>
                            <a:srgbClr val="FFFFFF"/>
                          </a:solidFill>
                          <a:latin typeface="Calibri" pitchFamily="34" charset="0"/>
                          <a:ea typeface="Calibri" pitchFamily="34" charset="-122"/>
                          <a:cs typeface="Calibri" pitchFamily="34" charset="-120"/>
                        </a:rPr>
                        <a:t>D7</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12141">
                <a:tc vMerge="1">
                  <a:tcPr/>
                </a:tc>
                <a:tc>
                  <a:txBody>
                    <a:bodyPr/>
                    <a:lstStyle/>
                    <a:p>
                      <a:pPr algn="l" indent="0" marL="0">
                        <a:buNone/>
                      </a:pPr>
                      <a:r>
                        <a:rPr lang="en-US" sz="750" dirty="0">
                          <a:solidFill>
                            <a:srgbClr val="5A6A72"/>
                          </a:solidFill>
                          <a:latin typeface="Calibri" pitchFamily="34" charset="0"/>
                          <a:ea typeface="Calibri" pitchFamily="34" charset="-122"/>
                          <a:cs typeface="Calibri" pitchFamily="34" charset="-120"/>
                        </a:rPr>
                        <a:t>4.3</a:t>
                      </a:r>
                      <a:endParaRPr lang="en-US" sz="7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l" indent="0" marL="0">
                        <a:buNone/>
                      </a:pPr>
                      <a:r>
                        <a:rPr lang="en-US" sz="800" dirty="0">
                          <a:solidFill>
                            <a:srgbClr val="16333F"/>
                          </a:solidFill>
                          <a:latin typeface="Calibri" pitchFamily="34" charset="0"/>
                          <a:ea typeface="Calibri" pitchFamily="34" charset="-122"/>
                          <a:cs typeface="Calibri" pitchFamily="34" charset="-120"/>
                        </a:rPr>
                        <a:t>Writing</a:t>
                      </a:r>
                      <a:endParaRPr lang="en-US" sz="80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DF2F5"/>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r>
                        <a:rPr lang="en-US" sz="650" b="1" dirty="0">
                          <a:solidFill>
                            <a:srgbClr val="16333F"/>
                          </a:solidFill>
                          <a:latin typeface="Calibri" pitchFamily="34" charset="0"/>
                          <a:ea typeface="Calibri" pitchFamily="34" charset="-122"/>
                          <a:cs typeface="Calibri" pitchFamily="34" charset="-120"/>
                        </a:rPr>
                        <a:t>D5</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r>
                        <a:rPr lang="en-US" sz="650" b="1" dirty="0">
                          <a:solidFill>
                            <a:srgbClr val="16333F"/>
                          </a:solidFill>
                          <a:latin typeface="Calibri" pitchFamily="34" charset="0"/>
                          <a:ea typeface="Calibri" pitchFamily="34" charset="-122"/>
                          <a:cs typeface="Calibri" pitchFamily="34" charset="-120"/>
                        </a:rPr>
                        <a:t>D2</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r>
                        <a:rPr lang="en-US" sz="650" b="1" dirty="0">
                          <a:solidFill>
                            <a:srgbClr val="16333F"/>
                          </a:solidFill>
                          <a:latin typeface="Calibri" pitchFamily="34" charset="0"/>
                          <a:ea typeface="Calibri" pitchFamily="34" charset="-122"/>
                          <a:cs typeface="Calibri" pitchFamily="34" charset="-120"/>
                        </a:rPr>
                        <a:t>D4</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C6D8E1"/>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c>
                  <a:txBody>
                    <a:bodyPr/>
                    <a:lstStyle/>
                    <a:p>
                      <a:pPr algn="ctr" indent="0" marL="0">
                        <a:buNone/>
                      </a:pPr>
                      <a:r>
                        <a:rPr lang="en-US" sz="650" b="1" dirty="0">
                          <a:solidFill>
                            <a:srgbClr val="FFFFFF"/>
                          </a:solidFill>
                          <a:latin typeface="Calibri" pitchFamily="34" charset="0"/>
                          <a:ea typeface="Calibri" pitchFamily="34" charset="-122"/>
                          <a:cs typeface="Calibri" pitchFamily="34" charset="-120"/>
                        </a:rPr>
                        <a:t>D8</a:t>
                      </a:r>
                      <a:endParaRPr lang="en-US" sz="650" dirty="0">
                        <a:latin typeface="Calibri" charset="0"/>
                        <a:ea typeface="Calibri" charset="0"/>
                        <a:cs typeface="Calibri" charset="0"/>
                      </a:endParaRPr>
                    </a:p>
                  </a:txBody>
                  <a:tcPr marL="1828800" marR="1828800" marT="0" marB="0"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F5673"/>
                    </a:solidFill>
                  </a:tcPr>
                </a:tc>
              </a:tr>
            </a:tbl>
          </a:graphicData>
        </a:graphic>
      </p:graphicFrame>
      <p:sp>
        <p:nvSpPr>
          <p:cNvPr id="6" name="Shape 3"/>
          <p:cNvSpPr/>
          <p:nvPr/>
        </p:nvSpPr>
        <p:spPr>
          <a:xfrm>
            <a:off x="4903470" y="1417320"/>
            <a:ext cx="0" cy="2523744"/>
          </a:xfrm>
          <a:prstGeom prst="line">
            <a:avLst/>
          </a:prstGeom>
          <a:noFill/>
          <a:ln w="19050">
            <a:solidFill>
              <a:srgbClr val="16333F"/>
            </a:solidFill>
            <a:prstDash val="solid"/>
          </a:ln>
        </p:spPr>
      </p:sp>
      <p:sp>
        <p:nvSpPr>
          <p:cNvPr id="7" name="Shape 4"/>
          <p:cNvSpPr/>
          <p:nvPr/>
        </p:nvSpPr>
        <p:spPr>
          <a:xfrm>
            <a:off x="6921246" y="1417320"/>
            <a:ext cx="0" cy="2523744"/>
          </a:xfrm>
          <a:prstGeom prst="line">
            <a:avLst/>
          </a:prstGeom>
          <a:noFill/>
          <a:ln w="19050">
            <a:solidFill>
              <a:srgbClr val="16333F"/>
            </a:solidFill>
            <a:prstDash val="solid"/>
          </a:ln>
        </p:spPr>
      </p:sp>
      <p:sp>
        <p:nvSpPr>
          <p:cNvPr id="8" name="Shape 5"/>
          <p:cNvSpPr/>
          <p:nvPr/>
        </p:nvSpPr>
        <p:spPr>
          <a:xfrm>
            <a:off x="5660136" y="1636776"/>
            <a:ext cx="0" cy="2414016"/>
          </a:xfrm>
          <a:prstGeom prst="line">
            <a:avLst/>
          </a:prstGeom>
          <a:noFill/>
          <a:ln w="31750">
            <a:solidFill>
              <a:srgbClr val="C1440E"/>
            </a:solidFill>
            <a:prstDash val="solid"/>
          </a:ln>
        </p:spPr>
      </p:sp>
      <p:sp>
        <p:nvSpPr>
          <p:cNvPr id="9" name="Text 6"/>
          <p:cNvSpPr txBox="1"/>
          <p:nvPr/>
        </p:nvSpPr>
        <p:spPr>
          <a:xfrm>
            <a:off x="4837176" y="4059936"/>
            <a:ext cx="1645920" cy="201168"/>
          </a:xfrm>
          <a:prstGeom prst="rect">
            <a:avLst/>
          </a:prstGeom>
          <a:noFill/>
          <a:ln/>
        </p:spPr>
        <p:txBody>
          <a:bodyPr wrap="square" lIns="0" tIns="0" rIns="0" bIns="0" rtlCol="0" anchor="t"/>
          <a:lstStyle/>
          <a:p>
            <a:pPr algn="ctr" indent="0" marL="0">
              <a:buNone/>
            </a:pPr>
            <a:r>
              <a:rPr lang="en-US" sz="1000" b="1" dirty="0">
                <a:solidFill>
                  <a:srgbClr val="C1440E"/>
                </a:solidFill>
                <a:latin typeface="Calibri" pitchFamily="34" charset="0"/>
                <a:ea typeface="Calibri" pitchFamily="34" charset="-122"/>
                <a:cs typeface="Calibri" pitchFamily="34" charset="-120"/>
              </a:rPr>
              <a:t>Today: month 12</a:t>
            </a:r>
            <a:endParaRPr lang="en-US" sz="1000" dirty="0"/>
          </a:p>
        </p:txBody>
      </p:sp>
      <p:sp>
        <p:nvSpPr>
          <p:cNvPr id="10" name="Shape 7"/>
          <p:cNvSpPr/>
          <p:nvPr/>
        </p:nvSpPr>
        <p:spPr>
          <a:xfrm>
            <a:off x="457200" y="4123944"/>
            <a:ext cx="201168" cy="118872"/>
          </a:xfrm>
          <a:prstGeom prst="rect">
            <a:avLst/>
          </a:prstGeom>
          <a:solidFill>
            <a:srgbClr val="1F5673"/>
          </a:solidFill>
          <a:ln w="12700">
            <a:solidFill>
              <a:srgbClr val="1F5673"/>
            </a:solidFill>
            <a:prstDash val="solid"/>
          </a:ln>
        </p:spPr>
      </p:sp>
      <p:sp>
        <p:nvSpPr>
          <p:cNvPr id="11" name="Text 8"/>
          <p:cNvSpPr txBox="1"/>
          <p:nvPr/>
        </p:nvSpPr>
        <p:spPr>
          <a:xfrm>
            <a:off x="713232" y="4087368"/>
            <a:ext cx="1005840" cy="201168"/>
          </a:xfrm>
          <a:prstGeom prst="rect">
            <a:avLst/>
          </a:prstGeom>
          <a:noFill/>
          <a:ln/>
        </p:spPr>
        <p:txBody>
          <a:bodyPr wrap="square" lIns="0" tIns="0" rIns="0" bIns="0" rtlCol="0" anchor="t"/>
          <a:lstStyle/>
          <a:p>
            <a:pPr algn="l" indent="0" marL="0">
              <a:buNone/>
            </a:pPr>
            <a:r>
              <a:rPr lang="en-US" sz="1000" dirty="0">
                <a:solidFill>
                  <a:srgbClr val="5A6A72"/>
                </a:solidFill>
                <a:latin typeface="Calibri" pitchFamily="34" charset="0"/>
                <a:ea typeface="Calibri" pitchFamily="34" charset="-122"/>
                <a:cs typeface="Calibri" pitchFamily="34" charset="-120"/>
              </a:rPr>
              <a:t>Focus</a:t>
            </a:r>
            <a:endParaRPr lang="en-US" sz="1000" dirty="0"/>
          </a:p>
        </p:txBody>
      </p:sp>
      <p:sp>
        <p:nvSpPr>
          <p:cNvPr id="12" name="Shape 9"/>
          <p:cNvSpPr/>
          <p:nvPr/>
        </p:nvSpPr>
        <p:spPr>
          <a:xfrm>
            <a:off x="1325880" y="4123944"/>
            <a:ext cx="201168" cy="118872"/>
          </a:xfrm>
          <a:prstGeom prst="rect">
            <a:avLst/>
          </a:prstGeom>
          <a:solidFill>
            <a:srgbClr val="C6D8E1"/>
          </a:solidFill>
          <a:ln w="12700">
            <a:solidFill>
              <a:srgbClr val="C6D8E1"/>
            </a:solidFill>
            <a:prstDash val="solid"/>
          </a:ln>
        </p:spPr>
      </p:sp>
      <p:sp>
        <p:nvSpPr>
          <p:cNvPr id="13" name="Text 10"/>
          <p:cNvSpPr txBox="1"/>
          <p:nvPr/>
        </p:nvSpPr>
        <p:spPr>
          <a:xfrm>
            <a:off x="1581912" y="4087368"/>
            <a:ext cx="1188720" cy="201168"/>
          </a:xfrm>
          <a:prstGeom prst="rect">
            <a:avLst/>
          </a:prstGeom>
          <a:noFill/>
          <a:ln/>
        </p:spPr>
        <p:txBody>
          <a:bodyPr wrap="square" lIns="0" tIns="0" rIns="0" bIns="0" rtlCol="0" anchor="t"/>
          <a:lstStyle/>
          <a:p>
            <a:pPr algn="l" indent="0" marL="0">
              <a:buNone/>
            </a:pPr>
            <a:r>
              <a:rPr lang="en-US" sz="1000" dirty="0">
                <a:solidFill>
                  <a:srgbClr val="5A6A72"/>
                </a:solidFill>
                <a:latin typeface="Calibri" pitchFamily="34" charset="0"/>
                <a:ea typeface="Calibri" pitchFamily="34" charset="-122"/>
                <a:cs typeface="Calibri" pitchFamily="34" charset="-120"/>
              </a:rPr>
              <a:t>Ongoing</a:t>
            </a:r>
            <a:endParaRPr lang="en-US" sz="1000" dirty="0"/>
          </a:p>
        </p:txBody>
      </p:sp>
      <p:sp>
        <p:nvSpPr>
          <p:cNvPr id="14" name="Text 11"/>
          <p:cNvSpPr txBox="1"/>
          <p:nvPr/>
        </p:nvSpPr>
        <p:spPr>
          <a:xfrm>
            <a:off x="2331720" y="4087368"/>
            <a:ext cx="2011680" cy="201168"/>
          </a:xfrm>
          <a:prstGeom prst="rect">
            <a:avLst/>
          </a:prstGeom>
          <a:noFill/>
          <a:ln/>
        </p:spPr>
        <p:txBody>
          <a:bodyPr wrap="square" lIns="0" tIns="0" rIns="0" bIns="0" rtlCol="0" anchor="t"/>
          <a:lstStyle/>
          <a:p>
            <a:pPr algn="l" indent="0" marL="0">
              <a:buNone/>
            </a:pPr>
            <a:r>
              <a:rPr lang="en-US" sz="1000" dirty="0">
                <a:solidFill>
                  <a:srgbClr val="5A6A72"/>
                </a:solidFill>
                <a:latin typeface="Calibri" pitchFamily="34" charset="0"/>
                <a:ea typeface="Calibri" pitchFamily="34" charset="-122"/>
                <a:cs typeface="Calibri" pitchFamily="34" charset="-120"/>
              </a:rPr>
              <a:t>D1–D8: deliverables</a:t>
            </a:r>
            <a:endParaRPr lang="en-US" sz="1000" dirty="0"/>
          </a:p>
        </p:txBody>
      </p:sp>
      <p:sp>
        <p:nvSpPr>
          <p:cNvPr id="15" name="Shape 12"/>
          <p:cNvSpPr/>
          <p:nvPr/>
        </p:nvSpPr>
        <p:spPr>
          <a:xfrm>
            <a:off x="457200" y="4315968"/>
            <a:ext cx="8229600" cy="603504"/>
          </a:xfrm>
          <a:prstGeom prst="rect">
            <a:avLst/>
          </a:prstGeom>
          <a:solidFill>
            <a:srgbClr val="F6E3DC"/>
          </a:solidFill>
          <a:ln w="12700">
            <a:solidFill>
              <a:srgbClr val="F6E3DC"/>
            </a:solidFill>
            <a:prstDash val="solid"/>
          </a:ln>
        </p:spPr>
      </p:sp>
      <p:sp>
        <p:nvSpPr>
          <p:cNvPr id="16" name="Text 13"/>
          <p:cNvSpPr txBox="1"/>
          <p:nvPr/>
        </p:nvSpPr>
        <p:spPr>
          <a:xfrm>
            <a:off x="713232" y="4315968"/>
            <a:ext cx="7717536" cy="603504"/>
          </a:xfrm>
          <a:prstGeom prst="rect">
            <a:avLst/>
          </a:prstGeom>
          <a:noFill/>
          <a:ln/>
        </p:spPr>
        <p:txBody>
          <a:bodyPr wrap="square" lIns="0" tIns="0" rIns="0" bIns="0" rtlCol="0" anchor="ctr"/>
          <a:lstStyle/>
          <a:p>
            <a:pPr algn="l" indent="0" marL="0">
              <a:buNone/>
            </a:pPr>
            <a:r>
              <a:rPr lang="en-US" sz="1300" b="1" dirty="0">
                <a:solidFill>
                  <a:srgbClr val="C1440E"/>
                </a:solidFill>
                <a:latin typeface="Calibri" pitchFamily="34" charset="0"/>
                <a:ea typeface="Calibri" pitchFamily="34" charset="-122"/>
                <a:cs typeface="Calibri" pitchFamily="34" charset="-120"/>
              </a:rPr>
              <a:t>Next up, as planned: </a:t>
            </a:r>
            <a:pPr algn="l" indent="0" marL="0">
              <a:buNone/>
            </a:pPr>
            <a:r>
              <a:rPr lang="en-US" sz="1300" dirty="0">
                <a:solidFill>
                  <a:srgbClr val="16333F"/>
                </a:solidFill>
                <a:latin typeface="Calibri" pitchFamily="34" charset="0"/>
                <a:ea typeface="Calibri" pitchFamily="34" charset="-122"/>
                <a:cs typeface="Calibri" pitchFamily="34" charset="-120"/>
              </a:rPr>
              <a:t>data (2.1–2.2, months 12–13) brings in the snowpack driver; extremal learning (3.2, months 14–17) takes on copula transport.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Rain-on-snow: ESA progress meeting</dc:title>
  <dc:subject>PptxGenJS Presentation</dc:subject>
  <dc:creator>Vincenzo Coia</dc:creator>
  <cp:lastModifiedBy>Vincenzo Coia</cp:lastModifiedBy>
  <cp:revision>1</cp:revision>
  <dcterms:created xsi:type="dcterms:W3CDTF">2026-09-15T13:47:42Z</dcterms:created>
  <dcterms:modified xsi:type="dcterms:W3CDTF">2026-09-15T13:47:42Z</dcterms:modified>
</cp:coreProperties>
</file>